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9" r:id="rId4"/>
    <p:sldId id="291" r:id="rId5"/>
    <p:sldId id="292" r:id="rId6"/>
    <p:sldId id="285" r:id="rId7"/>
    <p:sldId id="286" r:id="rId8"/>
    <p:sldId id="287" r:id="rId9"/>
    <p:sldId id="290" r:id="rId10"/>
    <p:sldId id="288" r:id="rId11"/>
  </p:sldIdLst>
  <p:sldSz cx="12192000" cy="6858000"/>
  <p:notesSz cx="6797675" cy="992822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D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/>
    <p:restoredTop sz="94674"/>
  </p:normalViewPr>
  <p:slideViewPr>
    <p:cSldViewPr snapToGrid="0" snapToObjects="1">
      <p:cViewPr varScale="1">
        <p:scale>
          <a:sx n="86" d="100"/>
          <a:sy n="86" d="100"/>
        </p:scale>
        <p:origin x="49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alvarezm\Downloads\Chihuahu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multiLvlStrRef>
              <c:f>'[Chihuahua.xlsx]Grafico de vivienda'!$A$1:$O$2</c:f>
              <c:multiLvlStrCache>
                <c:ptCount val="15"/>
                <c:lvl>
                  <c:pt idx="0">
                    <c:v>Concreto</c:v>
                  </c:pt>
                  <c:pt idx="1">
                    <c:v>Laminia Galvanizada</c:v>
                  </c:pt>
                  <c:pt idx="2">
                    <c:v>Madera</c:v>
                  </c:pt>
                  <c:pt idx="3">
                    <c:v>Lamina Carton</c:v>
                  </c:pt>
                  <c:pt idx="4">
                    <c:v>Otro</c:v>
                  </c:pt>
                  <c:pt idx="5">
                    <c:v>Tabique</c:v>
                  </c:pt>
                  <c:pt idx="6">
                    <c:v>Adobe</c:v>
                  </c:pt>
                  <c:pt idx="7">
                    <c:v>Block</c:v>
                  </c:pt>
                  <c:pt idx="8">
                    <c:v>Madera</c:v>
                  </c:pt>
                  <c:pt idx="9">
                    <c:v>Piedra</c:v>
                  </c:pt>
                  <c:pt idx="10">
                    <c:v>Carton</c:v>
                  </c:pt>
                  <c:pt idx="11">
                    <c:v>Cemento</c:v>
                  </c:pt>
                  <c:pt idx="12">
                    <c:v>Madera</c:v>
                  </c:pt>
                  <c:pt idx="13">
                    <c:v>Tierra</c:v>
                  </c:pt>
                  <c:pt idx="14">
                    <c:v>Piedra</c:v>
                  </c:pt>
                </c:lvl>
                <c:lvl>
                  <c:pt idx="0">
                    <c:v>TECHO</c:v>
                  </c:pt>
                  <c:pt idx="5">
                    <c:v>PAREDES</c:v>
                  </c:pt>
                  <c:pt idx="11">
                    <c:v>PISO</c:v>
                  </c:pt>
                </c:lvl>
              </c:multiLvlStrCache>
            </c:multiLvlStrRef>
          </c:cat>
          <c:val>
            <c:numRef>
              <c:f>'[Chihuahua.xlsx]Grafico de vivienda'!$A$3:$O$3</c:f>
              <c:numCache>
                <c:formatCode>General</c:formatCode>
                <c:ptCount val="15"/>
                <c:pt idx="0">
                  <c:v>252</c:v>
                </c:pt>
                <c:pt idx="1">
                  <c:v>1298</c:v>
                </c:pt>
                <c:pt idx="2">
                  <c:v>36</c:v>
                </c:pt>
                <c:pt idx="3">
                  <c:v>12</c:v>
                </c:pt>
                <c:pt idx="4">
                  <c:v>12</c:v>
                </c:pt>
                <c:pt idx="5">
                  <c:v>78</c:v>
                </c:pt>
                <c:pt idx="6">
                  <c:v>843</c:v>
                </c:pt>
                <c:pt idx="7">
                  <c:v>746</c:v>
                </c:pt>
                <c:pt idx="8">
                  <c:v>39</c:v>
                </c:pt>
                <c:pt idx="9">
                  <c:v>22</c:v>
                </c:pt>
                <c:pt idx="10">
                  <c:v>7</c:v>
                </c:pt>
                <c:pt idx="11">
                  <c:v>1476</c:v>
                </c:pt>
                <c:pt idx="12">
                  <c:v>16</c:v>
                </c:pt>
                <c:pt idx="13">
                  <c:v>41</c:v>
                </c:pt>
                <c:pt idx="1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8-4EA6-AA8F-FAC0C7C08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88844063"/>
        <c:axId val="1988849887"/>
        <c:axId val="0"/>
      </c:bar3DChart>
      <c:catAx>
        <c:axId val="1988844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9887"/>
        <c:crosses val="autoZero"/>
        <c:auto val="1"/>
        <c:lblAlgn val="ctr"/>
        <c:lblOffset val="100"/>
        <c:noMultiLvlLbl val="0"/>
      </c:catAx>
      <c:valAx>
        <c:axId val="1988849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4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multiLvlStrRef>
              <c:f>'[Chihuahua.xlsx]Grafico de vivienda'!$P$1:$AA$2</c:f>
              <c:multiLvlStrCache>
                <c:ptCount val="12"/>
                <c:lvl>
                  <c:pt idx="0">
                    <c:v>Potable</c:v>
                  </c:pt>
                  <c:pt idx="1">
                    <c:v>Noria / Pozo</c:v>
                  </c:pt>
                  <c:pt idx="2">
                    <c:v>Rio</c:v>
                  </c:pt>
                  <c:pt idx="3">
                    <c:v>Lluvia</c:v>
                  </c:pt>
                  <c:pt idx="4">
                    <c:v>Potable</c:v>
                  </c:pt>
                  <c:pt idx="5">
                    <c:v>Purificada</c:v>
                  </c:pt>
                  <c:pt idx="6">
                    <c:v>Hervida</c:v>
                  </c:pt>
                  <c:pt idx="7">
                    <c:v>Clorada</c:v>
                  </c:pt>
                  <c:pt idx="8">
                    <c:v>Filtrada</c:v>
                  </c:pt>
                  <c:pt idx="9">
                    <c:v>Fosa Septica</c:v>
                  </c:pt>
                  <c:pt idx="10">
                    <c:v>Letrina</c:v>
                  </c:pt>
                  <c:pt idx="11">
                    <c:v>Al ras de Suelo</c:v>
                  </c:pt>
                </c:lvl>
                <c:lvl>
                  <c:pt idx="0">
                    <c:v>AGUA DE USO</c:v>
                  </c:pt>
                  <c:pt idx="5">
                    <c:v>AGUA DE CONSUMO</c:v>
                  </c:pt>
                  <c:pt idx="9">
                    <c:v>EXCRETA</c:v>
                  </c:pt>
                </c:lvl>
              </c:multiLvlStrCache>
            </c:multiLvlStrRef>
          </c:cat>
          <c:val>
            <c:numRef>
              <c:f>'[Chihuahua.xlsx]Grafico de vivienda'!$P$3:$AA$3</c:f>
              <c:numCache>
                <c:formatCode>General</c:formatCode>
                <c:ptCount val="12"/>
                <c:pt idx="0">
                  <c:v>1293</c:v>
                </c:pt>
                <c:pt idx="1">
                  <c:v>241</c:v>
                </c:pt>
                <c:pt idx="2">
                  <c:v>6</c:v>
                </c:pt>
                <c:pt idx="3">
                  <c:v>5</c:v>
                </c:pt>
                <c:pt idx="4">
                  <c:v>1316</c:v>
                </c:pt>
                <c:pt idx="5">
                  <c:v>42</c:v>
                </c:pt>
                <c:pt idx="6">
                  <c:v>51</c:v>
                </c:pt>
                <c:pt idx="7">
                  <c:v>85</c:v>
                </c:pt>
                <c:pt idx="8">
                  <c:v>14</c:v>
                </c:pt>
                <c:pt idx="9">
                  <c:v>1108</c:v>
                </c:pt>
                <c:pt idx="10">
                  <c:v>103</c:v>
                </c:pt>
                <c:pt idx="1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BF-491A-9C27-C1441D94D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88848639"/>
        <c:axId val="1988849055"/>
        <c:axId val="0"/>
      </c:bar3DChart>
      <c:catAx>
        <c:axId val="1988848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9055"/>
        <c:crosses val="autoZero"/>
        <c:auto val="1"/>
        <c:lblAlgn val="ctr"/>
        <c:lblOffset val="100"/>
        <c:noMultiLvlLbl val="0"/>
      </c:catAx>
      <c:valAx>
        <c:axId val="1988849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8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multiLvlStrRef>
              <c:f>'[Chihuahua.xlsx]Grafico de vivienda'!$AB$1:$AM$2</c:f>
              <c:multiLvlStrCache>
                <c:ptCount val="12"/>
                <c:lvl>
                  <c:pt idx="0">
                    <c:v>Gas</c:v>
                  </c:pt>
                  <c:pt idx="1">
                    <c:v>Carbón</c:v>
                  </c:pt>
                  <c:pt idx="2">
                    <c:v>Leña</c:v>
                  </c:pt>
                  <c:pt idx="3">
                    <c:v>Otros</c:v>
                  </c:pt>
                  <c:pt idx="4">
                    <c:v>Red Municipal</c:v>
                  </c:pt>
                  <c:pt idx="5">
                    <c:v>Enterramiento</c:v>
                  </c:pt>
                  <c:pt idx="6">
                    <c:v>Cielo Abierto</c:v>
                  </c:pt>
                  <c:pt idx="7">
                    <c:v>Incineración</c:v>
                  </c:pt>
                  <c:pt idx="8">
                    <c:v>Red Electrica</c:v>
                  </c:pt>
                  <c:pt idx="9">
                    <c:v>Velas</c:v>
                  </c:pt>
                  <c:pt idx="10">
                    <c:v>Quinque</c:v>
                  </c:pt>
                  <c:pt idx="11">
                    <c:v>Placa Solar</c:v>
                  </c:pt>
                </c:lvl>
                <c:lvl>
                  <c:pt idx="0">
                    <c:v>COMBUSTIBLE</c:v>
                  </c:pt>
                  <c:pt idx="4">
                    <c:v>BASURA</c:v>
                  </c:pt>
                  <c:pt idx="8">
                    <c:v>ALUMBRADO</c:v>
                  </c:pt>
                </c:lvl>
              </c:multiLvlStrCache>
            </c:multiLvlStrRef>
          </c:cat>
          <c:val>
            <c:numRef>
              <c:f>'[Chihuahua.xlsx]Grafico de vivienda'!$AB$3:$AM$3</c:f>
              <c:numCache>
                <c:formatCode>General</c:formatCode>
                <c:ptCount val="12"/>
                <c:pt idx="0">
                  <c:v>1400</c:v>
                </c:pt>
                <c:pt idx="1">
                  <c:v>6</c:v>
                </c:pt>
                <c:pt idx="2">
                  <c:v>267</c:v>
                </c:pt>
                <c:pt idx="3">
                  <c:v>7</c:v>
                </c:pt>
                <c:pt idx="4">
                  <c:v>1354</c:v>
                </c:pt>
                <c:pt idx="5">
                  <c:v>11</c:v>
                </c:pt>
                <c:pt idx="6">
                  <c:v>20</c:v>
                </c:pt>
                <c:pt idx="7">
                  <c:v>132</c:v>
                </c:pt>
                <c:pt idx="8">
                  <c:v>1430</c:v>
                </c:pt>
                <c:pt idx="9">
                  <c:v>31</c:v>
                </c:pt>
                <c:pt idx="10">
                  <c:v>2</c:v>
                </c:pt>
                <c:pt idx="1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9D-478B-B41A-E7C85591F0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88842815"/>
        <c:axId val="1988846559"/>
        <c:axId val="0"/>
      </c:bar3DChart>
      <c:catAx>
        <c:axId val="1988842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6559"/>
        <c:crosses val="autoZero"/>
        <c:auto val="1"/>
        <c:lblAlgn val="ctr"/>
        <c:lblOffset val="100"/>
        <c:noMultiLvlLbl val="0"/>
      </c:catAx>
      <c:valAx>
        <c:axId val="198884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2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DISTRIBUCIÓN</a:t>
            </a:r>
            <a:r>
              <a:rPr lang="es-MX" baseline="0"/>
              <a:t> HABITACIONAL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'[Chihuahua.xlsx]Grafico de vivienda'!$AN$1:$AT$2</c:f>
              <c:strCache>
                <c:ptCount val="6"/>
                <c:pt idx="0">
                  <c:v>Numero de Habitaciones</c:v>
                </c:pt>
                <c:pt idx="1">
                  <c:v>Recamara</c:v>
                </c:pt>
                <c:pt idx="2">
                  <c:v>Estancia</c:v>
                </c:pt>
                <c:pt idx="3">
                  <c:v>Comedor</c:v>
                </c:pt>
                <c:pt idx="4">
                  <c:v>Multiple</c:v>
                </c:pt>
                <c:pt idx="5">
                  <c:v>Cocina Independiente</c:v>
                </c:pt>
              </c:strCache>
              <c:extLst/>
            </c:strRef>
          </c:cat>
          <c:val>
            <c:numRef>
              <c:f>'[Chihuahua.xlsx]Grafico de vivienda'!$AN$3:$AT$3</c:f>
              <c:numCache>
                <c:formatCode>General</c:formatCode>
                <c:ptCount val="7"/>
                <c:pt idx="0">
                  <c:v>0</c:v>
                </c:pt>
                <c:pt idx="1">
                  <c:v>1231</c:v>
                </c:pt>
                <c:pt idx="2">
                  <c:v>409</c:v>
                </c:pt>
                <c:pt idx="3">
                  <c:v>484</c:v>
                </c:pt>
                <c:pt idx="4">
                  <c:v>178</c:v>
                </c:pt>
                <c:pt idx="5">
                  <c:v>981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37-491C-A06D-A293091FF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3437951"/>
        <c:axId val="2023431295"/>
      </c:barChart>
      <c:catAx>
        <c:axId val="2023437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023431295"/>
        <c:crosses val="autoZero"/>
        <c:auto val="1"/>
        <c:lblAlgn val="ctr"/>
        <c:lblOffset val="100"/>
        <c:noMultiLvlLbl val="0"/>
      </c:catAx>
      <c:valAx>
        <c:axId val="2023431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023437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ETNIA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'[Chihuahua.xlsx]Grafico Etnia'!$B$1:$G$1</c:f>
              <c:strCache>
                <c:ptCount val="6"/>
                <c:pt idx="0">
                  <c:v>Tarahumara</c:v>
                </c:pt>
                <c:pt idx="1">
                  <c:v>Tepehuan</c:v>
                </c:pt>
                <c:pt idx="2">
                  <c:v>Wuarojio</c:v>
                </c:pt>
                <c:pt idx="3">
                  <c:v>Pima</c:v>
                </c:pt>
                <c:pt idx="4">
                  <c:v>Menonita</c:v>
                </c:pt>
                <c:pt idx="5">
                  <c:v>Otro</c:v>
                </c:pt>
              </c:strCache>
            </c:strRef>
          </c:cat>
          <c:val>
            <c:numRef>
              <c:f>'[Chihuahua.xlsx]Grafico Etnia'!$B$2:$G$2</c:f>
              <c:numCache>
                <c:formatCode>General</c:formatCode>
                <c:ptCount val="6"/>
                <c:pt idx="0">
                  <c:v>1409</c:v>
                </c:pt>
                <c:pt idx="1">
                  <c:v>2</c:v>
                </c:pt>
                <c:pt idx="2">
                  <c:v>15</c:v>
                </c:pt>
                <c:pt idx="3">
                  <c:v>0</c:v>
                </c:pt>
                <c:pt idx="4">
                  <c:v>0</c:v>
                </c:pt>
                <c:pt idx="5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01-4CB4-9535-4DB837C70B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88854879"/>
        <c:axId val="1988856543"/>
        <c:axId val="0"/>
      </c:bar3DChart>
      <c:catAx>
        <c:axId val="1988854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56543"/>
        <c:crosses val="autoZero"/>
        <c:auto val="1"/>
        <c:lblAlgn val="ctr"/>
        <c:lblOffset val="100"/>
        <c:noMultiLvlLbl val="0"/>
      </c:catAx>
      <c:valAx>
        <c:axId val="1988856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54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DERECHOHABIENCIA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'[Chihuahua.xlsx]grafico derechohabiencia'!$B$1:$G$1</c:f>
              <c:strCache>
                <c:ptCount val="6"/>
                <c:pt idx="0">
                  <c:v>INSABI</c:v>
                </c:pt>
                <c:pt idx="1">
                  <c:v>IMSS</c:v>
                </c:pt>
                <c:pt idx="2">
                  <c:v>ISSSTE</c:v>
                </c:pt>
                <c:pt idx="3">
                  <c:v>PEMEX</c:v>
                </c:pt>
                <c:pt idx="4">
                  <c:v>SEDENA</c:v>
                </c:pt>
                <c:pt idx="5">
                  <c:v>OTRO</c:v>
                </c:pt>
              </c:strCache>
            </c:strRef>
          </c:cat>
          <c:val>
            <c:numRef>
              <c:f>'[Chihuahua.xlsx]grafico derechohabiencia'!$B$2:$G$2</c:f>
              <c:numCache>
                <c:formatCode>General</c:formatCode>
                <c:ptCount val="6"/>
                <c:pt idx="0">
                  <c:v>882</c:v>
                </c:pt>
                <c:pt idx="1">
                  <c:v>551</c:v>
                </c:pt>
                <c:pt idx="2">
                  <c:v>28</c:v>
                </c:pt>
                <c:pt idx="3">
                  <c:v>2</c:v>
                </c:pt>
                <c:pt idx="4">
                  <c:v>3</c:v>
                </c:pt>
                <c:pt idx="5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D7-4A1B-86CB-57C6328702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88850719"/>
        <c:axId val="1988847807"/>
        <c:axId val="0"/>
      </c:bar3DChart>
      <c:catAx>
        <c:axId val="198885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7807"/>
        <c:crosses val="autoZero"/>
        <c:auto val="1"/>
        <c:lblAlgn val="ctr"/>
        <c:lblOffset val="100"/>
        <c:noMultiLvlLbl val="0"/>
      </c:catAx>
      <c:valAx>
        <c:axId val="1988847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50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MASCOTAS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'[Chihuahua.xlsx]grafico mascotas'!$A$1:$C$1</c:f>
              <c:strCache>
                <c:ptCount val="3"/>
                <c:pt idx="0">
                  <c:v>No. Perros</c:v>
                </c:pt>
                <c:pt idx="1">
                  <c:v>No. Gatos</c:v>
                </c:pt>
                <c:pt idx="2">
                  <c:v>No. Otros</c:v>
                </c:pt>
              </c:strCache>
            </c:strRef>
          </c:cat>
          <c:val>
            <c:numRef>
              <c:f>'[Chihuahua.xlsx]grafico mascotas'!$A$2:$C$2</c:f>
              <c:numCache>
                <c:formatCode>General</c:formatCode>
                <c:ptCount val="3"/>
                <c:pt idx="0">
                  <c:v>1421</c:v>
                </c:pt>
                <c:pt idx="1">
                  <c:v>791</c:v>
                </c:pt>
                <c:pt idx="2">
                  <c:v>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7-4593-B278-50B08E163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88842399"/>
        <c:axId val="1988852383"/>
        <c:axId val="0"/>
      </c:bar3DChart>
      <c:catAx>
        <c:axId val="198884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52383"/>
        <c:crosses val="autoZero"/>
        <c:auto val="1"/>
        <c:lblAlgn val="ctr"/>
        <c:lblOffset val="100"/>
        <c:noMultiLvlLbl val="0"/>
      </c:catAx>
      <c:valAx>
        <c:axId val="1988852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88842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USO DE</a:t>
            </a:r>
            <a:r>
              <a:rPr lang="es-MX" baseline="0"/>
              <a:t> SERVICIO MEDICO</a:t>
            </a:r>
            <a:endParaRPr lang="es-MX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'[Chihuahua.xlsx]grafico uso de servicio'!$B$1:$N$1</c:f>
              <c:strCache>
                <c:ptCount val="13"/>
                <c:pt idx="0">
                  <c:v>INSABI</c:v>
                </c:pt>
                <c:pt idx="1">
                  <c:v>IMSS</c:v>
                </c:pt>
                <c:pt idx="2">
                  <c:v>ISSSTE</c:v>
                </c:pt>
                <c:pt idx="3">
                  <c:v>PEMEX</c:v>
                </c:pt>
                <c:pt idx="4">
                  <c:v>SEDENA</c:v>
                </c:pt>
                <c:pt idx="5">
                  <c:v>Otro</c:v>
                </c:pt>
                <c:pt idx="6">
                  <c:v>Médico Particular</c:v>
                </c:pt>
                <c:pt idx="7">
                  <c:v>Clínica Particular</c:v>
                </c:pt>
                <c:pt idx="8">
                  <c:v>Partera</c:v>
                </c:pt>
                <c:pt idx="9">
                  <c:v>Curandero</c:v>
                </c:pt>
                <c:pt idx="10">
                  <c:v>Yerbero</c:v>
                </c:pt>
                <c:pt idx="11">
                  <c:v>Huesero</c:v>
                </c:pt>
                <c:pt idx="12">
                  <c:v>Boticario</c:v>
                </c:pt>
              </c:strCache>
            </c:strRef>
          </c:cat>
          <c:val>
            <c:numRef>
              <c:f>'[Chihuahua.xlsx]grafico uso de servicio'!$B$2:$N$2</c:f>
              <c:numCache>
                <c:formatCode>General</c:formatCode>
                <c:ptCount val="13"/>
                <c:pt idx="0">
                  <c:v>1001</c:v>
                </c:pt>
                <c:pt idx="1">
                  <c:v>494</c:v>
                </c:pt>
                <c:pt idx="2">
                  <c:v>36</c:v>
                </c:pt>
                <c:pt idx="3">
                  <c:v>2</c:v>
                </c:pt>
                <c:pt idx="4">
                  <c:v>4</c:v>
                </c:pt>
                <c:pt idx="5">
                  <c:v>58</c:v>
                </c:pt>
                <c:pt idx="6">
                  <c:v>186</c:v>
                </c:pt>
                <c:pt idx="7">
                  <c:v>34</c:v>
                </c:pt>
                <c:pt idx="8">
                  <c:v>1</c:v>
                </c:pt>
                <c:pt idx="9">
                  <c:v>4</c:v>
                </c:pt>
                <c:pt idx="10">
                  <c:v>0</c:v>
                </c:pt>
                <c:pt idx="11">
                  <c:v>0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B1-4BBA-A7E5-13D812313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00645647"/>
        <c:axId val="1900646895"/>
        <c:axId val="0"/>
      </c:bar3DChart>
      <c:catAx>
        <c:axId val="1900645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00646895"/>
        <c:crosses val="autoZero"/>
        <c:auto val="1"/>
        <c:lblAlgn val="ctr"/>
        <c:lblOffset val="100"/>
        <c:noMultiLvlLbl val="0"/>
      </c:catAx>
      <c:valAx>
        <c:axId val="1900646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9006456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3AA2F-9023-1D40-B7E3-F7457508E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6DAEE5-B646-6C4A-9262-D1D0CFE12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14C74B-3A49-EC48-A5B3-F10E7BA8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B94CCA-C0E0-5B49-A0FB-510D1423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6000D4-0FDC-F243-A418-7038642E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60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555DE-B363-194C-B09F-0E96EF67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A868B-C381-1946-9A94-A840D0E74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2A5FEA-FBE3-1B4E-B6A2-BB7E723C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BB9F2-3DC3-434F-B021-23CB67DC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A72A55-B251-154D-9491-621AD4CA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396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E43F9-A73D-C24A-A94C-C4948DFF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B41C17-8E79-C844-9E97-E858509FB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01FA1E-3904-DB4B-B368-ABD0B44B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90AB4-5306-844F-8C7D-0B66E987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CC576E-EFDC-F141-8DF6-880F20CB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63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CA797-9A51-2240-8699-BDC91350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3E0753-B826-6344-B33B-C14EEE223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537F36-0767-B743-9A2F-462DB159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081B-05B5-7C46-92D4-2C79A819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DD127A-0238-804A-A9B2-86B2B524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AC8081-F527-F44C-8BE8-320E55E4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934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7E851-02D8-3246-99FD-F9B73DF4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F5FF1B-A832-8241-B7D8-F8C256D6E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E162A7-5B5A-314D-B117-FE9955313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F3EF49-55A3-5B4C-9254-E4158E780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F22F5E-86FE-F549-9349-630E6C7D1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5C3019-20D5-7F4F-AF3D-BFFCB031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A2B255-444D-4D48-B9B7-36B5BF9D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67178FE-37BF-9F4D-B7F5-9575F3AD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162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B6987-51C1-F843-A3B5-F682018D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72EAC9-A738-C44F-91ED-784F1618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826617-4BCB-C845-B1B0-C090D2F1D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B43777-0A40-D34D-BE72-B0C487A2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956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AEFC24-54D0-1342-8196-6D685565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7E8620-46CA-424D-A556-0778AA05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E5641D-6296-AE48-B850-B1DA3EBD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408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9AECB-6952-6949-B31D-80BD1F5C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6C347-00DD-264B-BAD6-A141C6003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45FFD9-E542-0F46-A9D1-AF94F0605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5DE4C4-F7C6-EB4F-8B9A-4E11341E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7A9768-2EE1-CA4B-A17A-B4756DCE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AF99FC-49B9-A148-A518-A7B86953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686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3B5FD-6666-0A4D-8D34-E903150B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912D1D-318C-5A45-9D22-E35D2EE07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46E686-ADA8-6446-8861-2B86C533A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4E3DCE-9DEC-A84D-928C-6203F7BA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63CF5E-81E4-0D40-A359-5252FA76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B86A81-B286-C04E-B92F-03C05B45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821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45961-F036-1143-A261-BF55C7DD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11A0B1-85A5-F04A-8766-AAD17C01A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F51C47-EDD1-BE44-AFB5-3B4056437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9625B8-4F6C-FD41-9EA4-65A654AA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E3DBF4-3876-5442-BA42-83499914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766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98044A-157E-4847-88D4-7D96E5EE9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E6D883-9F80-4A44-914F-90FF86A64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D292E7-E72B-BE4E-86FD-51107FA0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75A346-F792-3A42-BBCA-1CBCF1088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64B2E3-4A16-6A40-BEFA-216EC26B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211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904654-04E3-6343-AA5E-5E444F2E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26C95F-6E74-D847-94CE-6AD412FA7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DEEF75-AA4C-1A4F-852D-C6527FF47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BECD9-F0A8-3C4F-AED1-555FEE0E139B}" type="datetimeFigureOut">
              <a:rPr lang="es-MX" smtClean="0"/>
              <a:t>14/02/2023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098A5C-3616-BD4D-9D17-9EA21B2AC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230288-0D66-024C-AE76-E4D784405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D2AC-CC40-B441-B569-A820607746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18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7054518-7DC7-8442-BEEC-74D6AAF0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4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6F3656-D2CC-6D41-A3DA-DB79ABDEC81E}"/>
              </a:ext>
            </a:extLst>
          </p:cNvPr>
          <p:cNvSpPr txBox="1"/>
          <p:nvPr/>
        </p:nvSpPr>
        <p:spPr>
          <a:xfrm>
            <a:off x="4868444" y="3241752"/>
            <a:ext cx="6868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chemeClr val="bg1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ASISTENTES SOCIALES CHIHUAHUA</a:t>
            </a:r>
            <a:endParaRPr lang="es-MX" sz="3200" dirty="0">
              <a:solidFill>
                <a:schemeClr val="bg1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4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703" y="5490173"/>
            <a:ext cx="4256297" cy="122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993612"/>
            <a:ext cx="455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VIVIENDA, 1565 viviendas censadas</a:t>
            </a:r>
            <a:endParaRPr lang="es-MX" sz="2800" dirty="0" smtClean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5" name="Gráfico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506696"/>
              </p:ext>
            </p:extLst>
          </p:nvPr>
        </p:nvGraphicFramePr>
        <p:xfrm>
          <a:off x="2828693" y="291106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79" y="2103475"/>
            <a:ext cx="11683441" cy="6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0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254279" y="977882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</a:t>
            </a: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1326381"/>
              </p:ext>
            </p:extLst>
          </p:nvPr>
        </p:nvGraphicFramePr>
        <p:xfrm>
          <a:off x="2728332" y="289545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840" y="2172184"/>
            <a:ext cx="9350641" cy="6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6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993612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</a:t>
            </a: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9770798"/>
              </p:ext>
            </p:extLst>
          </p:nvPr>
        </p:nvGraphicFramePr>
        <p:xfrm>
          <a:off x="2438400" y="289545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353" y="2103475"/>
            <a:ext cx="9350641" cy="6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0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993612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VIVIENDA</a:t>
            </a: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4233562"/>
              </p:ext>
            </p:extLst>
          </p:nvPr>
        </p:nvGraphicFramePr>
        <p:xfrm>
          <a:off x="2483005" y="324807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812" y="2203644"/>
            <a:ext cx="5462640" cy="6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7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489674" y="993612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ETNIA</a:t>
            </a:r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4888730"/>
              </p:ext>
            </p:extLst>
          </p:nvPr>
        </p:nvGraphicFramePr>
        <p:xfrm>
          <a:off x="2146800" y="320658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280" y="2321256"/>
            <a:ext cx="4685040" cy="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30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893538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DERECHOHABIENCIA</a:t>
            </a:r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0545149"/>
              </p:ext>
            </p:extLst>
          </p:nvPr>
        </p:nvGraphicFramePr>
        <p:xfrm>
          <a:off x="2159620" y="299410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00" y="2208848"/>
            <a:ext cx="4685040" cy="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3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993612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MASCOTAS</a:t>
            </a: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3129916"/>
              </p:ext>
            </p:extLst>
          </p:nvPr>
        </p:nvGraphicFramePr>
        <p:xfrm>
          <a:off x="2438400" y="290489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770" y="2192409"/>
            <a:ext cx="2352240" cy="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1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993612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USO DE SERVICIO MEDICO</a:t>
            </a:r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0284486"/>
              </p:ext>
            </p:extLst>
          </p:nvPr>
        </p:nvGraphicFramePr>
        <p:xfrm>
          <a:off x="2215375" y="311300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82" y="2227680"/>
            <a:ext cx="10128241" cy="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0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6AD8DA-7FA0-AD42-8FCB-794B814D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8" y="315964"/>
            <a:ext cx="5907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PROYECTO DE ASISTENTES SOCIALES</a:t>
            </a:r>
            <a:endParaRPr lang="es-MX" sz="2800" b="1" dirty="0">
              <a:solidFill>
                <a:srgbClr val="0D2D75"/>
              </a:solidFill>
              <a:latin typeface="Avenir Roman" panose="02000503020000020003" pitchFamily="2" charset="0"/>
              <a:cs typeface="Arial" panose="020B0604020202020204" pitchFamily="34" charset="0"/>
            </a:endParaRPr>
          </a:p>
        </p:txBody>
      </p:sp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792" y="5434149"/>
            <a:ext cx="3875639" cy="1114246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2629DDB1-5335-6F4A-8869-0A4A89938200}"/>
              </a:ext>
            </a:extLst>
          </p:cNvPr>
          <p:cNvSpPr txBox="1"/>
          <p:nvPr/>
        </p:nvSpPr>
        <p:spPr>
          <a:xfrm>
            <a:off x="333557" y="993612"/>
            <a:ext cx="3201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smtClean="0">
                <a:solidFill>
                  <a:srgbClr val="0D2D75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CAPACITACIÓN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22"/>
          <a:stretch/>
        </p:blipFill>
        <p:spPr>
          <a:xfrm>
            <a:off x="558221" y="1860806"/>
            <a:ext cx="5537779" cy="359280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380" y="1853609"/>
            <a:ext cx="48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6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65</Words>
  <Application>Microsoft Office PowerPoint</Application>
  <PresentationFormat>Panorámica</PresentationFormat>
  <Paragraphs>24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Avenir Roman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Jesús Alejandro Álvarez Martínez</cp:lastModifiedBy>
  <cp:revision>102</cp:revision>
  <cp:lastPrinted>2022-09-23T14:32:46Z</cp:lastPrinted>
  <dcterms:created xsi:type="dcterms:W3CDTF">2021-09-08T23:32:09Z</dcterms:created>
  <dcterms:modified xsi:type="dcterms:W3CDTF">2023-02-14T22:30:21Z</dcterms:modified>
</cp:coreProperties>
</file>