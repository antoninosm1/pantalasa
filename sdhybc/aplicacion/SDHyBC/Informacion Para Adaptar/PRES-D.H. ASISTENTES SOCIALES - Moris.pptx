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93" r:id="rId4"/>
    <p:sldId id="294" r:id="rId5"/>
    <p:sldId id="295" r:id="rId6"/>
    <p:sldId id="296" r:id="rId7"/>
    <p:sldId id="297" r:id="rId8"/>
    <p:sldId id="298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</p:sldIdLst>
  <p:sldSz cx="12192000" cy="6858000"/>
  <p:notesSz cx="6797675" cy="9928225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2D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74"/>
  </p:normalViewPr>
  <p:slideViewPr>
    <p:cSldViewPr snapToGrid="0" snapToObjects="1">
      <p:cViewPr varScale="1">
        <p:scale>
          <a:sx n="91" d="100"/>
          <a:sy n="91" d="100"/>
        </p:scale>
        <p:origin x="390" y="9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8.48.134\chihuahua_crece$\Asistentes%20sociales\1.%20Cinthia%20Mart&#237;nez\reporte%20de%20mpios%20de%20cedulas\MORIS%20-%20aproximado%20(144%20de%20249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8.48.134\chihuahua_crece$\Asistentes%20sociales\1.%20Cinthia%20Mart&#237;nez\reporte%20de%20mpios%20de%20cedulas\MORIS%20-%20aproximado%20(144%20de%20249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8.48.134\chihuahua_crece$\Asistentes%20sociales\1.%20Cinthia%20Mart&#237;nez\reporte%20de%20mpios%20de%20cedulas\MORIS%20-%20aproximado%20(144%20de%20249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8.48.134\chihuahua_crece$\Asistentes%20sociales\1.%20Cinthia%20Mart&#237;nez\reporte%20de%20mpios%20de%20cedulas\MORIS%20-%20aproximado%20(144%20de%20249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8.48.134\chihuahua_crece$\Asistentes%20sociales\1.%20Cinthia%20Mart&#237;nez\reporte%20de%20mpios%20de%20cedulas\MORIS%20-%20aproximado%20(144%20de%20249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8.48.134\chihuahua_crece$\Asistentes%20sociales\1.%20Cinthia%20Mart&#237;nez\reporte%20de%20mpios%20de%20cedulas\MORIS%20-%20aproximado%20(144%20de%20249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8.48.134\chihuahua_crece$\Asistentes%20sociales\1.%20Cinthia%20Mart&#237;nez\reporte%20de%20mpios%20de%20cedulas\MORIS%20-%20aproximado%20(144%20de%20249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8.48.134\chihuahua_crece$\Asistentes%20sociales\1.%20Cinthia%20Mart&#237;nez\reporte%20de%20mpios%20de%20cedulas\MORIS%20-%20aproximado%20(144%20de%20249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8.48.134\chihuahua_crece$\Asistentes%20sociales\1.%20Cinthia%20Mart&#237;nez\reporte%20de%20mpios%20de%20cedulas\MORIS%20-%20aproximado%20(144%20de%20249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8.48.134\chihuahua_crece$\Asistentes%20sociales\1.%20Cinthia%20Mart&#237;nez\reporte%20de%20mpios%20de%20cedulas\MORIS%20-%20aproximado%20(144%20de%20249)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8.48.134\chihuahua_crece$\Asistentes%20sociales\1.%20Cinthia%20Mart&#237;nez\reporte%20de%20mpios%20de%20cedulas\MORIS%20-%20aproximado%20(144%20de%20249)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8.48.134\chihuahua_crece$\Asistentes%20sociales\1.%20Cinthia%20Mart&#237;nez\reporte%20de%20mpios%20de%20cedulas\MORIS%20-%20aproximado%20(144%20de%20249)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8.48.134\chihuahua_crece$\Asistentes%20sociales\1.%20Cinthia%20Mart&#237;nez\reporte%20de%20mpios%20de%20cedulas\MORIS%20-%20aproximado%20(144%20de%20249)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8.48.134\chihuahua_crece$\Asistentes%20sociales\1.%20Cinthia%20Mart&#237;nez\reporte%20de%20mpios%20de%20cedulas\MORIS%20-%20aproximado%20(144%20de%20249)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8.48.134\chihuahua_crece$\Asistentes%20sociales\1.%20Cinthia%20Mart&#237;nez\reporte%20de%20mpios%20de%20cedulas\MORIS%20-%20aproximado%20(144%20de%20249)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'Graficas de Vivienda'!$A$1:$O$2</c:f>
              <c:multiLvlStrCache>
                <c:ptCount val="15"/>
                <c:lvl>
                  <c:pt idx="0">
                    <c:v>Concreto</c:v>
                  </c:pt>
                  <c:pt idx="1">
                    <c:v>Lamina galvanizada</c:v>
                  </c:pt>
                  <c:pt idx="2">
                    <c:v>Madera</c:v>
                  </c:pt>
                  <c:pt idx="3">
                    <c:v>Lamina cartón</c:v>
                  </c:pt>
                  <c:pt idx="4">
                    <c:v>Otro</c:v>
                  </c:pt>
                  <c:pt idx="5">
                    <c:v>Tabique</c:v>
                  </c:pt>
                  <c:pt idx="6">
                    <c:v>Adobe</c:v>
                  </c:pt>
                  <c:pt idx="7">
                    <c:v>Block</c:v>
                  </c:pt>
                  <c:pt idx="8">
                    <c:v>Madera</c:v>
                  </c:pt>
                  <c:pt idx="9">
                    <c:v>Piedra</c:v>
                  </c:pt>
                  <c:pt idx="10">
                    <c:v>Cartón</c:v>
                  </c:pt>
                  <c:pt idx="11">
                    <c:v>Cemento</c:v>
                  </c:pt>
                  <c:pt idx="12">
                    <c:v>Madera</c:v>
                  </c:pt>
                  <c:pt idx="13">
                    <c:v>Tierra</c:v>
                  </c:pt>
                  <c:pt idx="14">
                    <c:v>Piedra</c:v>
                  </c:pt>
                </c:lvl>
                <c:lvl>
                  <c:pt idx="0">
                    <c:v>TECHO</c:v>
                  </c:pt>
                  <c:pt idx="5">
                    <c:v>PAREDES</c:v>
                  </c:pt>
                  <c:pt idx="11">
                    <c:v>PISO</c:v>
                  </c:pt>
                </c:lvl>
              </c:multiLvlStrCache>
            </c:multiLvlStrRef>
          </c:cat>
          <c:val>
            <c:numRef>
              <c:f>'Graficas de Vivienda'!$A$3:$O$3</c:f>
              <c:numCache>
                <c:formatCode>General</c:formatCode>
                <c:ptCount val="15"/>
                <c:pt idx="0">
                  <c:v>3</c:v>
                </c:pt>
                <c:pt idx="1">
                  <c:v>241</c:v>
                </c:pt>
                <c:pt idx="2">
                  <c:v>7</c:v>
                </c:pt>
                <c:pt idx="3">
                  <c:v>3</c:v>
                </c:pt>
                <c:pt idx="4">
                  <c:v>0</c:v>
                </c:pt>
                <c:pt idx="5">
                  <c:v>6</c:v>
                </c:pt>
                <c:pt idx="6">
                  <c:v>212</c:v>
                </c:pt>
                <c:pt idx="7">
                  <c:v>9</c:v>
                </c:pt>
                <c:pt idx="8">
                  <c:v>21</c:v>
                </c:pt>
                <c:pt idx="9">
                  <c:v>6</c:v>
                </c:pt>
                <c:pt idx="10">
                  <c:v>1</c:v>
                </c:pt>
                <c:pt idx="11">
                  <c:v>209</c:v>
                </c:pt>
                <c:pt idx="12">
                  <c:v>8</c:v>
                </c:pt>
                <c:pt idx="13">
                  <c:v>37</c:v>
                </c:pt>
                <c:pt idx="1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92-437E-9E49-4B42275293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838208"/>
        <c:axId val="119839744"/>
      </c:barChart>
      <c:catAx>
        <c:axId val="11983820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19839744"/>
        <c:crosses val="autoZero"/>
        <c:auto val="1"/>
        <c:lblAlgn val="ctr"/>
        <c:lblOffset val="100"/>
        <c:noMultiLvlLbl val="0"/>
      </c:catAx>
      <c:valAx>
        <c:axId val="119839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19838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'Graficas de Vivienda'!$P$1:$AA$2</c:f>
              <c:multiLvlStrCache>
                <c:ptCount val="12"/>
                <c:lvl>
                  <c:pt idx="0">
                    <c:v>Potable</c:v>
                  </c:pt>
                  <c:pt idx="1">
                    <c:v>Noria/Pozo</c:v>
                  </c:pt>
                  <c:pt idx="2">
                    <c:v>Río</c:v>
                  </c:pt>
                  <c:pt idx="3">
                    <c:v>Lluvia</c:v>
                  </c:pt>
                  <c:pt idx="4">
                    <c:v>Potable</c:v>
                  </c:pt>
                  <c:pt idx="5">
                    <c:v>Purificada</c:v>
                  </c:pt>
                  <c:pt idx="6">
                    <c:v>Hervida</c:v>
                  </c:pt>
                  <c:pt idx="7">
                    <c:v>Clorada</c:v>
                  </c:pt>
                  <c:pt idx="8">
                    <c:v>Filtrada</c:v>
                  </c:pt>
                  <c:pt idx="9">
                    <c:v>Fosa séptica</c:v>
                  </c:pt>
                  <c:pt idx="10">
                    <c:v>Letrina</c:v>
                  </c:pt>
                  <c:pt idx="11">
                    <c:v>Al ras del suelo</c:v>
                  </c:pt>
                </c:lvl>
                <c:lvl>
                  <c:pt idx="0">
                    <c:v>AGUA DE USO</c:v>
                  </c:pt>
                  <c:pt idx="4">
                    <c:v>AGUA DE CONSUMO</c:v>
                  </c:pt>
                  <c:pt idx="9">
                    <c:v>EXCRETA</c:v>
                  </c:pt>
                </c:lvl>
              </c:multiLvlStrCache>
            </c:multiLvlStrRef>
          </c:cat>
          <c:val>
            <c:numRef>
              <c:f>'Graficas de Vivienda'!$P$3:$AA$3</c:f>
              <c:numCache>
                <c:formatCode>General</c:formatCode>
                <c:ptCount val="12"/>
                <c:pt idx="0">
                  <c:v>112</c:v>
                </c:pt>
                <c:pt idx="1">
                  <c:v>126</c:v>
                </c:pt>
                <c:pt idx="2">
                  <c:v>1</c:v>
                </c:pt>
                <c:pt idx="3">
                  <c:v>1</c:v>
                </c:pt>
                <c:pt idx="4">
                  <c:v>48</c:v>
                </c:pt>
                <c:pt idx="5">
                  <c:v>9</c:v>
                </c:pt>
                <c:pt idx="6">
                  <c:v>87</c:v>
                </c:pt>
                <c:pt idx="7">
                  <c:v>115</c:v>
                </c:pt>
                <c:pt idx="8">
                  <c:v>4</c:v>
                </c:pt>
                <c:pt idx="9">
                  <c:v>142</c:v>
                </c:pt>
                <c:pt idx="10">
                  <c:v>89</c:v>
                </c:pt>
                <c:pt idx="1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41-428E-8FC0-A225A0F093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666944"/>
        <c:axId val="119808000"/>
      </c:barChart>
      <c:catAx>
        <c:axId val="11966694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19808000"/>
        <c:crosses val="autoZero"/>
        <c:auto val="1"/>
        <c:lblAlgn val="ctr"/>
        <c:lblOffset val="100"/>
        <c:noMultiLvlLbl val="0"/>
      </c:catAx>
      <c:valAx>
        <c:axId val="119808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19666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s-MX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'Graficas de Vivienda'!$AB$1:$AM$2</c:f>
              <c:multiLvlStrCache>
                <c:ptCount val="12"/>
                <c:lvl>
                  <c:pt idx="0">
                    <c:v>Gas</c:v>
                  </c:pt>
                  <c:pt idx="1">
                    <c:v>Carbón</c:v>
                  </c:pt>
                  <c:pt idx="2">
                    <c:v>Leña</c:v>
                  </c:pt>
                  <c:pt idx="3">
                    <c:v>Otros</c:v>
                  </c:pt>
                  <c:pt idx="4">
                    <c:v>Red municipal</c:v>
                  </c:pt>
                  <c:pt idx="5">
                    <c:v>Enterramiento</c:v>
                  </c:pt>
                  <c:pt idx="6">
                    <c:v>Cielo abierto</c:v>
                  </c:pt>
                  <c:pt idx="7">
                    <c:v>Incineración</c:v>
                  </c:pt>
                  <c:pt idx="8">
                    <c:v>Red eléctrica</c:v>
                  </c:pt>
                  <c:pt idx="9">
                    <c:v>Velas</c:v>
                  </c:pt>
                  <c:pt idx="10">
                    <c:v>Quinque</c:v>
                  </c:pt>
                  <c:pt idx="11">
                    <c:v>Placa solar</c:v>
                  </c:pt>
                </c:lvl>
                <c:lvl>
                  <c:pt idx="0">
                    <c:v>COMBUSTIBLE</c:v>
                  </c:pt>
                  <c:pt idx="4">
                    <c:v>BASURA</c:v>
                  </c:pt>
                  <c:pt idx="8">
                    <c:v>ALUMBRADO</c:v>
                  </c:pt>
                </c:lvl>
              </c:multiLvlStrCache>
            </c:multiLvlStrRef>
          </c:cat>
          <c:val>
            <c:numRef>
              <c:f>'Graficas de Vivienda'!$AB$3:$AM$3</c:f>
              <c:numCache>
                <c:formatCode>General</c:formatCode>
                <c:ptCount val="12"/>
                <c:pt idx="0">
                  <c:v>109</c:v>
                </c:pt>
                <c:pt idx="1">
                  <c:v>3</c:v>
                </c:pt>
                <c:pt idx="2">
                  <c:v>169</c:v>
                </c:pt>
                <c:pt idx="3">
                  <c:v>0</c:v>
                </c:pt>
                <c:pt idx="4">
                  <c:v>63</c:v>
                </c:pt>
                <c:pt idx="5">
                  <c:v>9</c:v>
                </c:pt>
                <c:pt idx="6">
                  <c:v>0</c:v>
                </c:pt>
                <c:pt idx="7">
                  <c:v>180</c:v>
                </c:pt>
                <c:pt idx="8">
                  <c:v>171</c:v>
                </c:pt>
                <c:pt idx="9">
                  <c:v>6</c:v>
                </c:pt>
                <c:pt idx="10">
                  <c:v>0</c:v>
                </c:pt>
                <c:pt idx="11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D4-4117-A2A3-1099112B97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0203520"/>
        <c:axId val="119608064"/>
      </c:barChart>
      <c:catAx>
        <c:axId val="10020352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19608064"/>
        <c:crosses val="autoZero"/>
        <c:auto val="1"/>
        <c:lblAlgn val="ctr"/>
        <c:lblOffset val="100"/>
        <c:noMultiLvlLbl val="0"/>
      </c:catAx>
      <c:valAx>
        <c:axId val="119608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00203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s-MX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'Graficas de Vivienda'!$AN$2:$AS$2</c:f>
              <c:strCache>
                <c:ptCount val="6"/>
                <c:pt idx="0">
                  <c:v>Número de habitaciones</c:v>
                </c:pt>
                <c:pt idx="1">
                  <c:v>Recámara</c:v>
                </c:pt>
                <c:pt idx="2">
                  <c:v>Estancia</c:v>
                </c:pt>
                <c:pt idx="3">
                  <c:v>Comedor</c:v>
                </c:pt>
                <c:pt idx="4">
                  <c:v>Múltiple</c:v>
                </c:pt>
                <c:pt idx="5">
                  <c:v>Cocina independiente</c:v>
                </c:pt>
              </c:strCache>
            </c:strRef>
          </c:cat>
          <c:val>
            <c:numRef>
              <c:f>'Graficas de Vivienda'!$AN$3:$AS$3</c:f>
              <c:numCache>
                <c:formatCode>General</c:formatCode>
                <c:ptCount val="6"/>
                <c:pt idx="0">
                  <c:v>835</c:v>
                </c:pt>
                <c:pt idx="1">
                  <c:v>206</c:v>
                </c:pt>
                <c:pt idx="2">
                  <c:v>37</c:v>
                </c:pt>
                <c:pt idx="3">
                  <c:v>38</c:v>
                </c:pt>
                <c:pt idx="4">
                  <c:v>26</c:v>
                </c:pt>
                <c:pt idx="5">
                  <c:v>173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9E-4314-9D29-A1E5224101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521792"/>
        <c:axId val="49523712"/>
      </c:barChart>
      <c:catAx>
        <c:axId val="495217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MX" dirty="0" smtClean="0"/>
                  <a:t>DISTRIBUCIÓN</a:t>
                </a:r>
                <a:r>
                  <a:rPr lang="es-MX" baseline="0" dirty="0" smtClean="0"/>
                  <a:t> HABITACIONAL</a:t>
                </a:r>
                <a:endParaRPr lang="es-MX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MX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49523712"/>
        <c:crosses val="autoZero"/>
        <c:auto val="1"/>
        <c:lblAlgn val="ctr"/>
        <c:lblOffset val="100"/>
        <c:noMultiLvlLbl val="0"/>
      </c:catAx>
      <c:valAx>
        <c:axId val="49523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49521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s-MX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'Grafica de Etnia'!$B$1:$G$1</c:f>
              <c:strCache>
                <c:ptCount val="6"/>
                <c:pt idx="0">
                  <c:v>Tarahumara</c:v>
                </c:pt>
                <c:pt idx="1">
                  <c:v>Tepehúan</c:v>
                </c:pt>
                <c:pt idx="2">
                  <c:v>Wuarojío</c:v>
                </c:pt>
                <c:pt idx="3">
                  <c:v>Pima</c:v>
                </c:pt>
                <c:pt idx="4">
                  <c:v>Menonita</c:v>
                </c:pt>
                <c:pt idx="5">
                  <c:v>Otro</c:v>
                </c:pt>
              </c:strCache>
            </c:strRef>
          </c:cat>
          <c:val>
            <c:numRef>
              <c:f>'Grafica de Etnia'!$B$2:$G$2</c:f>
              <c:numCache>
                <c:formatCode>General</c:formatCode>
                <c:ptCount val="6"/>
                <c:pt idx="0">
                  <c:v>136</c:v>
                </c:pt>
                <c:pt idx="1">
                  <c:v>1</c:v>
                </c:pt>
                <c:pt idx="2">
                  <c:v>26</c:v>
                </c:pt>
                <c:pt idx="3">
                  <c:v>0</c:v>
                </c:pt>
                <c:pt idx="4">
                  <c:v>0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8B-48EC-92E6-D8FF88926F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888640"/>
        <c:axId val="49419776"/>
      </c:barChart>
      <c:catAx>
        <c:axId val="478886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MX" dirty="0" smtClean="0"/>
                  <a:t>ETNIA</a:t>
                </a:r>
                <a:endParaRPr lang="es-MX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MX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49419776"/>
        <c:crosses val="autoZero"/>
        <c:auto val="1"/>
        <c:lblAlgn val="ctr"/>
        <c:lblOffset val="100"/>
        <c:noMultiLvlLbl val="0"/>
      </c:catAx>
      <c:valAx>
        <c:axId val="49419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47888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s-MX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'Grafico Derechohabiencia'!$B$1:$G$1</c:f>
              <c:strCache>
                <c:ptCount val="6"/>
                <c:pt idx="0">
                  <c:v>INSABI</c:v>
                </c:pt>
                <c:pt idx="1">
                  <c:v>IMSS</c:v>
                </c:pt>
                <c:pt idx="2">
                  <c:v>ISSSTE</c:v>
                </c:pt>
                <c:pt idx="3">
                  <c:v>PEMEX</c:v>
                </c:pt>
                <c:pt idx="4">
                  <c:v>SEDENA</c:v>
                </c:pt>
                <c:pt idx="5">
                  <c:v>Otro</c:v>
                </c:pt>
              </c:strCache>
            </c:strRef>
          </c:cat>
          <c:val>
            <c:numRef>
              <c:f>'Grafico Derechohabiencia'!$B$2:$G$2</c:f>
              <c:numCache>
                <c:formatCode>General</c:formatCode>
                <c:ptCount val="6"/>
                <c:pt idx="0">
                  <c:v>152</c:v>
                </c:pt>
                <c:pt idx="1">
                  <c:v>35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2D-4755-849E-C3A03A6293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455872"/>
        <c:axId val="66885120"/>
      </c:barChart>
      <c:catAx>
        <c:axId val="494558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MX" dirty="0" smtClean="0"/>
                  <a:t>DERECHOHABIENCIA</a:t>
                </a:r>
                <a:endParaRPr lang="es-MX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MX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66885120"/>
        <c:crosses val="autoZero"/>
        <c:auto val="1"/>
        <c:lblAlgn val="ctr"/>
        <c:lblOffset val="100"/>
        <c:noMultiLvlLbl val="0"/>
      </c:catAx>
      <c:valAx>
        <c:axId val="66885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49455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s-MX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'Grafico Mascotas'!$B$1:$D$1</c:f>
              <c:strCache>
                <c:ptCount val="3"/>
                <c:pt idx="0">
                  <c:v>No. Perros</c:v>
                </c:pt>
                <c:pt idx="1">
                  <c:v>No. Gatos</c:v>
                </c:pt>
                <c:pt idx="2">
                  <c:v>No. Otros</c:v>
                </c:pt>
              </c:strCache>
            </c:strRef>
          </c:cat>
          <c:val>
            <c:numRef>
              <c:f>'Grafico Mascotas'!$B$2:$D$2</c:f>
              <c:numCache>
                <c:formatCode>General</c:formatCode>
                <c:ptCount val="3"/>
                <c:pt idx="0">
                  <c:v>291</c:v>
                </c:pt>
                <c:pt idx="1">
                  <c:v>226</c:v>
                </c:pt>
                <c:pt idx="2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A1-4351-8812-474F811EC9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406784"/>
        <c:axId val="76409088"/>
      </c:barChart>
      <c:catAx>
        <c:axId val="764067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MX" dirty="0" smtClean="0"/>
                  <a:t>MASCOTAS</a:t>
                </a:r>
                <a:endParaRPr lang="es-MX" dirty="0"/>
              </a:p>
            </c:rich>
          </c:tx>
          <c:layout>
            <c:manualLayout>
              <c:xMode val="edge"/>
              <c:yMode val="edge"/>
              <c:x val="0.47200189298631323"/>
              <c:y val="0.9388144443081977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MX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76409088"/>
        <c:crosses val="autoZero"/>
        <c:auto val="1"/>
        <c:lblAlgn val="ctr"/>
        <c:lblOffset val="100"/>
        <c:noMultiLvlLbl val="0"/>
      </c:catAx>
      <c:valAx>
        <c:axId val="76409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76406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s-MX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'Grafico Uso de Servicio '!$B$1:$N$2</c:f>
              <c:multiLvlStrCache>
                <c:ptCount val="13"/>
                <c:lvl>
                  <c:pt idx="0">
                    <c:v>INSABI</c:v>
                  </c:pt>
                  <c:pt idx="1">
                    <c:v>IMSS</c:v>
                  </c:pt>
                  <c:pt idx="2">
                    <c:v>ISSSTE</c:v>
                  </c:pt>
                  <c:pt idx="3">
                    <c:v>PEMEX</c:v>
                  </c:pt>
                  <c:pt idx="4">
                    <c:v>SEDENA</c:v>
                  </c:pt>
                  <c:pt idx="5">
                    <c:v>Otro</c:v>
                  </c:pt>
                  <c:pt idx="6">
                    <c:v>Médico particular</c:v>
                  </c:pt>
                  <c:pt idx="7">
                    <c:v>Clínica particular</c:v>
                  </c:pt>
                  <c:pt idx="8">
                    <c:v>Partera</c:v>
                  </c:pt>
                  <c:pt idx="9">
                    <c:v>Curandero</c:v>
                  </c:pt>
                  <c:pt idx="10">
                    <c:v>Yerbero</c:v>
                  </c:pt>
                  <c:pt idx="11">
                    <c:v>Huesero</c:v>
                  </c:pt>
                  <c:pt idx="12">
                    <c:v>Boticario</c:v>
                  </c:pt>
                </c:lvl>
                <c:lvl>
                  <c:pt idx="0">
                    <c:v>OFICIALES</c:v>
                  </c:pt>
                  <c:pt idx="6">
                    <c:v>PARTICULARES</c:v>
                  </c:pt>
                  <c:pt idx="8">
                    <c:v>TRADICIONALES</c:v>
                  </c:pt>
                </c:lvl>
              </c:multiLvlStrCache>
            </c:multiLvlStrRef>
          </c:cat>
          <c:val>
            <c:numRef>
              <c:f>'Grafico Uso de Servicio '!$B$3:$N$3</c:f>
              <c:numCache>
                <c:formatCode>General</c:formatCode>
                <c:ptCount val="13"/>
                <c:pt idx="0">
                  <c:v>187</c:v>
                </c:pt>
                <c:pt idx="1">
                  <c:v>37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9</c:v>
                </c:pt>
                <c:pt idx="6">
                  <c:v>0</c:v>
                </c:pt>
                <c:pt idx="7">
                  <c:v>18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4E-4E65-AFEB-069857F4EC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229696"/>
        <c:axId val="119660544"/>
      </c:barChart>
      <c:catAx>
        <c:axId val="8322969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19660544"/>
        <c:crosses val="autoZero"/>
        <c:auto val="1"/>
        <c:lblAlgn val="ctr"/>
        <c:lblOffset val="100"/>
        <c:noMultiLvlLbl val="0"/>
      </c:catAx>
      <c:valAx>
        <c:axId val="119660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83229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s-MX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'Familia Grafico'!$A$1:$M$2</c:f>
              <c:multiLvlStrCache>
                <c:ptCount val="13"/>
                <c:lvl>
                  <c:pt idx="0">
                    <c:v>Mujer</c:v>
                  </c:pt>
                  <c:pt idx="1">
                    <c:v>Hombre</c:v>
                  </c:pt>
                  <c:pt idx="2">
                    <c:v>Casado</c:v>
                  </c:pt>
                  <c:pt idx="3">
                    <c:v>Soltero</c:v>
                  </c:pt>
                  <c:pt idx="4">
                    <c:v>Unión Libre</c:v>
                  </c:pt>
                  <c:pt idx="5">
                    <c:v>Divorciado</c:v>
                  </c:pt>
                  <c:pt idx="6">
                    <c:v>Viudo</c:v>
                  </c:pt>
                  <c:pt idx="7">
                    <c:v>Separado</c:v>
                  </c:pt>
                  <c:pt idx="8">
                    <c:v>Padre</c:v>
                  </c:pt>
                  <c:pt idx="9">
                    <c:v>Madre</c:v>
                  </c:pt>
                  <c:pt idx="10">
                    <c:v>Hijo</c:v>
                  </c:pt>
                  <c:pt idx="11">
                    <c:v>Pariente</c:v>
                  </c:pt>
                  <c:pt idx="12">
                    <c:v>Otro</c:v>
                  </c:pt>
                </c:lvl>
                <c:lvl>
                  <c:pt idx="0">
                    <c:v>Sexo</c:v>
                  </c:pt>
                  <c:pt idx="2">
                    <c:v>ESTADO CIVIL</c:v>
                  </c:pt>
                  <c:pt idx="8">
                    <c:v>PARENTESCO</c:v>
                  </c:pt>
                </c:lvl>
              </c:multiLvlStrCache>
            </c:multiLvlStrRef>
          </c:cat>
          <c:val>
            <c:numRef>
              <c:f>'Familia Grafico'!$A$3:$M$3</c:f>
              <c:numCache>
                <c:formatCode>General</c:formatCode>
                <c:ptCount val="13"/>
                <c:pt idx="0">
                  <c:v>258</c:v>
                </c:pt>
                <c:pt idx="1">
                  <c:v>218</c:v>
                </c:pt>
                <c:pt idx="2">
                  <c:v>121</c:v>
                </c:pt>
                <c:pt idx="3">
                  <c:v>182</c:v>
                </c:pt>
                <c:pt idx="4">
                  <c:v>88</c:v>
                </c:pt>
                <c:pt idx="5">
                  <c:v>0</c:v>
                </c:pt>
                <c:pt idx="6">
                  <c:v>23</c:v>
                </c:pt>
                <c:pt idx="7">
                  <c:v>6</c:v>
                </c:pt>
                <c:pt idx="8">
                  <c:v>96</c:v>
                </c:pt>
                <c:pt idx="9">
                  <c:v>118</c:v>
                </c:pt>
                <c:pt idx="10">
                  <c:v>206</c:v>
                </c:pt>
                <c:pt idx="11">
                  <c:v>5</c:v>
                </c:pt>
                <c:pt idx="1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71-4D1A-B00A-BE57E50F30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229696"/>
        <c:axId val="119660544"/>
      </c:barChart>
      <c:catAx>
        <c:axId val="8322969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19660544"/>
        <c:crosses val="autoZero"/>
        <c:auto val="1"/>
        <c:lblAlgn val="ctr"/>
        <c:lblOffset val="100"/>
        <c:noMultiLvlLbl val="0"/>
      </c:catAx>
      <c:valAx>
        <c:axId val="119660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83229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s-MX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'Familia Grafico'!$I$6:$P$8</c:f>
              <c:multiLvlStrCache>
                <c:ptCount val="8"/>
                <c:lvl>
                  <c:pt idx="0">
                    <c:v>Hombre</c:v>
                  </c:pt>
                  <c:pt idx="1">
                    <c:v>Mujer</c:v>
                  </c:pt>
                  <c:pt idx="2">
                    <c:v>Hombre</c:v>
                  </c:pt>
                  <c:pt idx="3">
                    <c:v>Mujer</c:v>
                  </c:pt>
                  <c:pt idx="4">
                    <c:v>Hombre</c:v>
                  </c:pt>
                  <c:pt idx="5">
                    <c:v>Mujer</c:v>
                  </c:pt>
                  <c:pt idx="6">
                    <c:v>Hombre</c:v>
                  </c:pt>
                  <c:pt idx="7">
                    <c:v>Mujer</c:v>
                  </c:pt>
                </c:lvl>
                <c:lvl>
                  <c:pt idx="0">
                    <c:v>Menor de 5 años</c:v>
                  </c:pt>
                  <c:pt idx="2">
                    <c:v>De 5 a 9 años</c:v>
                  </c:pt>
                  <c:pt idx="4">
                    <c:v>De 10 a 17 años</c:v>
                  </c:pt>
                  <c:pt idx="6">
                    <c:v>De 18 años en adelante</c:v>
                  </c:pt>
                </c:lvl>
                <c:lvl>
                  <c:pt idx="0">
                    <c:v>Edad</c:v>
                  </c:pt>
                </c:lvl>
              </c:multiLvlStrCache>
            </c:multiLvlStrRef>
          </c:cat>
          <c:val>
            <c:numRef>
              <c:f>'Familia Grafico'!$I$9:$P$9</c:f>
              <c:numCache>
                <c:formatCode>General</c:formatCode>
                <c:ptCount val="8"/>
                <c:pt idx="0">
                  <c:v>20</c:v>
                </c:pt>
                <c:pt idx="1">
                  <c:v>26</c:v>
                </c:pt>
                <c:pt idx="2">
                  <c:v>15</c:v>
                </c:pt>
                <c:pt idx="3">
                  <c:v>24</c:v>
                </c:pt>
                <c:pt idx="4">
                  <c:v>31</c:v>
                </c:pt>
                <c:pt idx="5">
                  <c:v>39</c:v>
                </c:pt>
                <c:pt idx="6">
                  <c:v>149</c:v>
                </c:pt>
                <c:pt idx="7">
                  <c:v>168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81-4E8B-B6F6-748CAD6A99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229696"/>
        <c:axId val="119660544"/>
      </c:barChart>
      <c:catAx>
        <c:axId val="8322969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19660544"/>
        <c:crosses val="autoZero"/>
        <c:auto val="1"/>
        <c:lblAlgn val="ctr"/>
        <c:lblOffset val="100"/>
        <c:noMultiLvlLbl val="0"/>
      </c:catAx>
      <c:valAx>
        <c:axId val="119660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83229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s-MX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'Familia Grafico'!$N$1:$W$2</c:f>
              <c:multiLvlStrCache>
                <c:ptCount val="10"/>
                <c:lvl>
                  <c:pt idx="0">
                    <c:v>Preescolar</c:v>
                  </c:pt>
                  <c:pt idx="1">
                    <c:v>Primaria</c:v>
                  </c:pt>
                  <c:pt idx="2">
                    <c:v>Secundaria</c:v>
                  </c:pt>
                  <c:pt idx="3">
                    <c:v>Preparatoria</c:v>
                  </c:pt>
                  <c:pt idx="4">
                    <c:v>Técnico</c:v>
                  </c:pt>
                  <c:pt idx="5">
                    <c:v>Profesional</c:v>
                  </c:pt>
                  <c:pt idx="6">
                    <c:v>Posgrado</c:v>
                  </c:pt>
                  <c:pt idx="7">
                    <c:v>No asiste a la escuela</c:v>
                  </c:pt>
                  <c:pt idx="8">
                    <c:v>Sabe leer y escribir</c:v>
                  </c:pt>
                  <c:pt idx="9">
                    <c:v>Analfabeta</c:v>
                  </c:pt>
                </c:lvl>
                <c:lvl>
                  <c:pt idx="0">
                    <c:v>ESCOLARIDAD</c:v>
                  </c:pt>
                </c:lvl>
              </c:multiLvlStrCache>
            </c:multiLvlStrRef>
          </c:cat>
          <c:val>
            <c:numRef>
              <c:f>'Familia Grafico'!$N$3:$W$3</c:f>
              <c:numCache>
                <c:formatCode>General</c:formatCode>
                <c:ptCount val="10"/>
                <c:pt idx="0">
                  <c:v>10</c:v>
                </c:pt>
                <c:pt idx="1">
                  <c:v>179</c:v>
                </c:pt>
                <c:pt idx="2">
                  <c:v>93</c:v>
                </c:pt>
                <c:pt idx="3">
                  <c:v>33</c:v>
                </c:pt>
                <c:pt idx="4">
                  <c:v>2</c:v>
                </c:pt>
                <c:pt idx="5">
                  <c:v>2</c:v>
                </c:pt>
                <c:pt idx="6">
                  <c:v>0</c:v>
                </c:pt>
                <c:pt idx="7">
                  <c:v>20</c:v>
                </c:pt>
                <c:pt idx="8">
                  <c:v>232</c:v>
                </c:pt>
                <c:pt idx="9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C1-4A4B-BD6C-8A5A12364E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229696"/>
        <c:axId val="119660544"/>
      </c:barChart>
      <c:catAx>
        <c:axId val="8322969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19660544"/>
        <c:crosses val="autoZero"/>
        <c:auto val="1"/>
        <c:lblAlgn val="ctr"/>
        <c:lblOffset val="100"/>
        <c:noMultiLvlLbl val="0"/>
      </c:catAx>
      <c:valAx>
        <c:axId val="119660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83229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s-MX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'Familia Grafico'!$X$1:$AE$2</c:f>
              <c:multiLvlStrCache>
                <c:ptCount val="8"/>
                <c:lvl>
                  <c:pt idx="0">
                    <c:v>Hogar</c:v>
                  </c:pt>
                  <c:pt idx="1">
                    <c:v>Estudiante</c:v>
                  </c:pt>
                  <c:pt idx="2">
                    <c:v>Empleado</c:v>
                  </c:pt>
                  <c:pt idx="3">
                    <c:v>Desempleado</c:v>
                  </c:pt>
                  <c:pt idx="4">
                    <c:v>Por cuenta propia</c:v>
                  </c:pt>
                  <c:pt idx="5">
                    <c:v>Menor al salario mínimo</c:v>
                  </c:pt>
                  <c:pt idx="6">
                    <c:v>Igual al salario mínimo</c:v>
                  </c:pt>
                  <c:pt idx="7">
                    <c:v>Mayor al salario mínimo</c:v>
                  </c:pt>
                </c:lvl>
                <c:lvl>
                  <c:pt idx="0">
                    <c:v>OCUPACIÓN</c:v>
                  </c:pt>
                  <c:pt idx="5">
                    <c:v>INGRESO</c:v>
                  </c:pt>
                </c:lvl>
              </c:multiLvlStrCache>
            </c:multiLvlStrRef>
          </c:cat>
          <c:val>
            <c:numRef>
              <c:f>'Familia Grafico'!$X$3:$AE$3</c:f>
              <c:numCache>
                <c:formatCode>General</c:formatCode>
                <c:ptCount val="8"/>
                <c:pt idx="0">
                  <c:v>152</c:v>
                </c:pt>
                <c:pt idx="1">
                  <c:v>67</c:v>
                </c:pt>
                <c:pt idx="2">
                  <c:v>41</c:v>
                </c:pt>
                <c:pt idx="3">
                  <c:v>12</c:v>
                </c:pt>
                <c:pt idx="4">
                  <c:v>150</c:v>
                </c:pt>
                <c:pt idx="5">
                  <c:v>152</c:v>
                </c:pt>
                <c:pt idx="6">
                  <c:v>18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AB-4654-A284-DA74F44689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229696"/>
        <c:axId val="119660544"/>
      </c:barChart>
      <c:catAx>
        <c:axId val="8322969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19660544"/>
        <c:crosses val="autoZero"/>
        <c:auto val="1"/>
        <c:lblAlgn val="ctr"/>
        <c:lblOffset val="100"/>
        <c:noMultiLvlLbl val="0"/>
      </c:catAx>
      <c:valAx>
        <c:axId val="119660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83229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s-MX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'Familia Grafico'!$AF$1:$AL$2</c:f>
              <c:multiLvlStrCache>
                <c:ptCount val="7"/>
                <c:lvl>
                  <c:pt idx="0">
                    <c:v>Papanicolaou</c:v>
                  </c:pt>
                  <c:pt idx="1">
                    <c:v>Hipertensión</c:v>
                  </c:pt>
                  <c:pt idx="2">
                    <c:v>Diabetes</c:v>
                  </c:pt>
                  <c:pt idx="3">
                    <c:v>Tuberculosis</c:v>
                  </c:pt>
                  <c:pt idx="4">
                    <c:v>Alcoholismo</c:v>
                  </c:pt>
                  <c:pt idx="5">
                    <c:v>Tabaquismo</c:v>
                  </c:pt>
                  <c:pt idx="6">
                    <c:v>Cáncer</c:v>
                  </c:pt>
                </c:lvl>
                <c:lvl>
                  <c:pt idx="0">
                    <c:v>DETECCIONES Y PADECIMIENTOS</c:v>
                  </c:pt>
                </c:lvl>
              </c:multiLvlStrCache>
            </c:multiLvlStrRef>
          </c:cat>
          <c:val>
            <c:numRef>
              <c:f>'Familia Grafico'!$AF$3:$AL$3</c:f>
              <c:numCache>
                <c:formatCode>General</c:formatCode>
                <c:ptCount val="7"/>
                <c:pt idx="0">
                  <c:v>22</c:v>
                </c:pt>
                <c:pt idx="1">
                  <c:v>54</c:v>
                </c:pt>
                <c:pt idx="2">
                  <c:v>23</c:v>
                </c:pt>
                <c:pt idx="3">
                  <c:v>3</c:v>
                </c:pt>
                <c:pt idx="4">
                  <c:v>1</c:v>
                </c:pt>
                <c:pt idx="5">
                  <c:v>6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D6-4C81-8679-C61726D70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229696"/>
        <c:axId val="119660544"/>
      </c:barChart>
      <c:catAx>
        <c:axId val="8322969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19660544"/>
        <c:crosses val="autoZero"/>
        <c:auto val="1"/>
        <c:lblAlgn val="ctr"/>
        <c:lblOffset val="100"/>
        <c:noMultiLvlLbl val="0"/>
      </c:catAx>
      <c:valAx>
        <c:axId val="119660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83229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s-MX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'Familia Grafico'!$AM$1:$AU$2</c:f>
              <c:multiLvlStrCache>
                <c:ptCount val="9"/>
                <c:lvl>
                  <c:pt idx="0">
                    <c:v>DIU</c:v>
                  </c:pt>
                  <c:pt idx="1">
                    <c:v>Orales</c:v>
                  </c:pt>
                  <c:pt idx="2">
                    <c:v>Preservativos</c:v>
                  </c:pt>
                  <c:pt idx="3">
                    <c:v>Inyección Mensual</c:v>
                  </c:pt>
                  <c:pt idx="4">
                    <c:v>Inyección Bimensual</c:v>
                  </c:pt>
                  <c:pt idx="5">
                    <c:v>Salpingo / OTB</c:v>
                  </c:pt>
                  <c:pt idx="6">
                    <c:v>Implantes</c:v>
                  </c:pt>
                  <c:pt idx="7">
                    <c:v>Embarazada</c:v>
                  </c:pt>
                  <c:pt idx="8">
                    <c:v>Embarazada en control</c:v>
                  </c:pt>
                </c:lvl>
                <c:lvl>
                  <c:pt idx="0">
                    <c:v>PLANIFICACIÓN FAMILIAR</c:v>
                  </c:pt>
                </c:lvl>
              </c:multiLvlStrCache>
            </c:multiLvlStrRef>
          </c:cat>
          <c:val>
            <c:numRef>
              <c:f>'Familia Grafico'!$AM$3:$AU$3</c:f>
              <c:numCache>
                <c:formatCode>General</c:formatCode>
                <c:ptCount val="9"/>
                <c:pt idx="0">
                  <c:v>9</c:v>
                </c:pt>
                <c:pt idx="1">
                  <c:v>3</c:v>
                </c:pt>
                <c:pt idx="2">
                  <c:v>2</c:v>
                </c:pt>
                <c:pt idx="3">
                  <c:v>4</c:v>
                </c:pt>
                <c:pt idx="4">
                  <c:v>4</c:v>
                </c:pt>
                <c:pt idx="5">
                  <c:v>40</c:v>
                </c:pt>
                <c:pt idx="6">
                  <c:v>12</c:v>
                </c:pt>
                <c:pt idx="7">
                  <c:v>0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26-417F-B349-5E1303AEF1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229696"/>
        <c:axId val="119660544"/>
      </c:barChart>
      <c:catAx>
        <c:axId val="8322969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19660544"/>
        <c:crosses val="autoZero"/>
        <c:auto val="1"/>
        <c:lblAlgn val="ctr"/>
        <c:lblOffset val="100"/>
        <c:noMultiLvlLbl val="0"/>
      </c:catAx>
      <c:valAx>
        <c:axId val="119660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83229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s-MX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'Familia Grafico'!$AV$1:$BB$2</c:f>
              <c:multiLvlStrCache>
                <c:ptCount val="7"/>
                <c:lvl>
                  <c:pt idx="0">
                    <c:v>Baño y cambio de ropa</c:v>
                  </c:pt>
                  <c:pt idx="1">
                    <c:v>Lavado de dientes</c:v>
                  </c:pt>
                  <c:pt idx="2">
                    <c:v>Limpieza de vivienda</c:v>
                  </c:pt>
                  <c:pt idx="3">
                    <c:v>Consumo de bebidas alcohólicas</c:v>
                  </c:pt>
                  <c:pt idx="4">
                    <c:v>Tabaco</c:v>
                  </c:pt>
                  <c:pt idx="5">
                    <c:v>Medicamentos</c:v>
                  </c:pt>
                  <c:pt idx="6">
                    <c:v>Drogas</c:v>
                  </c:pt>
                </c:lvl>
                <c:lvl>
                  <c:pt idx="0">
                    <c:v>HIGIENE</c:v>
                  </c:pt>
                  <c:pt idx="3">
                    <c:v>TOXICOMANÍAS</c:v>
                  </c:pt>
                </c:lvl>
              </c:multiLvlStrCache>
            </c:multiLvlStrRef>
          </c:cat>
          <c:val>
            <c:numRef>
              <c:f>'Familia Grafico'!$AV$3:$BB$3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B3-4677-B23B-4BB16C1898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229696"/>
        <c:axId val="119660544"/>
      </c:barChart>
      <c:catAx>
        <c:axId val="8322969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19660544"/>
        <c:crosses val="autoZero"/>
        <c:auto val="1"/>
        <c:lblAlgn val="ctr"/>
        <c:lblOffset val="100"/>
        <c:noMultiLvlLbl val="0"/>
      </c:catAx>
      <c:valAx>
        <c:axId val="119660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83229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3AA2F-9023-1D40-B7E3-F7457508E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6DAEE5-B646-6C4A-9262-D1D0CFE12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14C74B-3A49-EC48-A5B3-F10E7BA88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28/03/2023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B94CCA-C0E0-5B49-A0FB-510D1423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6000D4-0FDC-F243-A418-7038642E4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60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3555DE-B363-194C-B09F-0E96EF673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2A868B-C381-1946-9A94-A840D0E74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2A5FEA-FBE3-1B4E-B6A2-BB7E723C0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28/03/2023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ABB9F2-3DC3-434F-B021-23CB67DC3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A72A55-B251-154D-9491-621AD4CA6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3962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5E43F9-A73D-C24A-A94C-C4948DFFE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B41C17-8E79-C844-9E97-E858509FB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01FA1E-3904-DB4B-B368-ABD0B44B9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28/03/2023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C90AB4-5306-844F-8C7D-0B66E987E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CC576E-EFDC-F141-8DF6-880F20CBB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9630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CCA797-9A51-2240-8699-BDC91350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3E0753-B826-6344-B33B-C14EEE223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537F36-0767-B743-9A2F-462DB1597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7E081B-05B5-7C46-92D4-2C79A8191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28/03/2023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DD127A-0238-804A-A9B2-86B2B524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AC8081-F527-F44C-8BE8-320E55E43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9349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07E851-02D8-3246-99FD-F9B73DF4A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F5FF1B-A832-8241-B7D8-F8C256D6E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E162A7-5B5A-314D-B117-FE9955313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3F3EF49-55A3-5B4C-9254-E4158E7807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BF22F5E-86FE-F549-9349-630E6C7D1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A5C3019-20D5-7F4F-AF3D-BFFCB0311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28/03/2023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2A2B255-444D-4D48-B9B7-36B5BF9D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67178FE-37BF-9F4D-B7F5-9575F3ADD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1629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AB6987-51C1-F843-A3B5-F682018DA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A72EAC9-A738-C44F-91ED-784F1618F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28/03/2023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826617-4BCB-C845-B1B0-C090D2F1D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B43777-0A40-D34D-BE72-B0C487A28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9563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2AEFC24-54D0-1342-8196-6D685565E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28/03/2023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7E8620-46CA-424D-A556-0778AA05C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E5641D-6296-AE48-B850-B1DA3EBD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408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9AECB-6952-6949-B31D-80BD1F5CA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6C347-00DD-264B-BAD6-A141C6003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45FFD9-E542-0F46-A9D1-AF94F0605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5DE4C4-F7C6-EB4F-8B9A-4E11341ED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28/03/2023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7A9768-2EE1-CA4B-A17A-B4756DCE8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AF99FC-49B9-A148-A518-A7B86953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6860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3B5FD-6666-0A4D-8D34-E903150B3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2912D1D-318C-5A45-9D22-E35D2EE07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246E686-ADA8-6446-8861-2B86C533A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24E3DCE-9DEC-A84D-928C-6203F7BA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28/03/2023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63CF5E-81E4-0D40-A359-5252FA768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1B86A81-B286-C04E-B92F-03C05B45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8218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45961-F036-1143-A261-BF55C7DD8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11A0B1-85A5-F04A-8766-AAD17C01A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F51C47-EDD1-BE44-AFB5-3B4056437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28/03/2023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9625B8-4F6C-FD41-9EA4-65A654AAE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E3DBF4-3876-5442-BA42-834999141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766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98044A-157E-4847-88D4-7D96E5EE98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E6D883-9F80-4A44-914F-90FF86A64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D292E7-E72B-BE4E-86FD-51107FA01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28/03/2023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75A346-F792-3A42-BBCA-1CBCF1088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64B2E3-4A16-6A40-BEFA-216EC26BD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2117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904654-04E3-6343-AA5E-5E444F2E8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26C95F-6E74-D847-94CE-6AD412FA7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DEEF75-AA4C-1A4F-852D-C6527FF47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BECD9-F0A8-3C4F-AED1-555FEE0E139B}" type="datetimeFigureOut">
              <a:rPr lang="es-MX" smtClean="0"/>
              <a:t>28/03/2023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098A5C-3616-BD4D-9D17-9EA21B2AC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230288-0D66-024C-AE76-E4D784405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5187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7054518-7DC7-8442-BEEC-74D6AAF01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4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36F3656-D2CC-6D41-A3DA-DB79ABDEC81E}"/>
              </a:ext>
            </a:extLst>
          </p:cNvPr>
          <p:cNvSpPr txBox="1"/>
          <p:nvPr/>
        </p:nvSpPr>
        <p:spPr>
          <a:xfrm>
            <a:off x="4868444" y="3241752"/>
            <a:ext cx="68684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chemeClr val="bg1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ASISTENTES SOCIALES</a:t>
            </a:r>
          </a:p>
          <a:p>
            <a:r>
              <a:rPr lang="es-MX" sz="3200" dirty="0" smtClean="0">
                <a:solidFill>
                  <a:schemeClr val="bg1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MORIS</a:t>
            </a:r>
            <a:endParaRPr lang="es-MX" sz="3200" dirty="0">
              <a:solidFill>
                <a:schemeClr val="bg1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4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703" y="5490173"/>
            <a:ext cx="4256297" cy="122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0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315964"/>
            <a:ext cx="5907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074535"/>
            <a:ext cx="12184339" cy="4368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7507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315964"/>
            <a:ext cx="6632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 - MORIS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839184"/>
            <a:ext cx="4550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VIVIENDA, 249 viviendas censadas</a:t>
            </a:r>
          </a:p>
        </p:txBody>
      </p:sp>
      <p:graphicFrame>
        <p:nvGraphicFramePr>
          <p:cNvPr id="9" name="3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1614238"/>
              </p:ext>
            </p:extLst>
          </p:nvPr>
        </p:nvGraphicFramePr>
        <p:xfrm>
          <a:off x="333557" y="2850522"/>
          <a:ext cx="7402057" cy="36551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8" name="Tabla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2109"/>
              </p:ext>
            </p:extLst>
          </p:nvPr>
        </p:nvGraphicFramePr>
        <p:xfrm>
          <a:off x="369720" y="1928314"/>
          <a:ext cx="10944000" cy="6800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88777984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37307187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368043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7478557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34555533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6040265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021356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46294923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3693879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25467903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19292179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4700493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6422651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28723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984795122"/>
                    </a:ext>
                  </a:extLst>
                </a:gridCol>
              </a:tblGrid>
              <a:tr h="128651">
                <a:tc gridSpan="5">
                  <a:txBody>
                    <a:bodyPr/>
                    <a:lstStyle/>
                    <a:p>
                      <a:pPr algn="ctr"/>
                      <a:r>
                        <a:rPr lang="es-MX" sz="1100" b="1" dirty="0" smtClean="0"/>
                        <a:t>TECHO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s-MX" sz="1100" b="1" dirty="0" smtClean="0"/>
                        <a:t>PAREDES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MX" sz="1100" b="1" dirty="0" smtClean="0"/>
                        <a:t>PISO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192338"/>
                  </a:ext>
                </a:extLst>
              </a:tr>
              <a:tr h="324242"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Concreto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Lámina</a:t>
                      </a:r>
                      <a:r>
                        <a:rPr lang="es-MX" sz="1100" baseline="0" dirty="0" smtClean="0"/>
                        <a:t> galvanizada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Madera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Lámina cartón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Otro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Tabique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Adobe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Block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Madera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Piedra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Cartón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Cemento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Madera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Tierra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Piedra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89803969"/>
                  </a:ext>
                </a:extLst>
              </a:tr>
              <a:tr h="135961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209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7939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549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6" y="315964"/>
            <a:ext cx="7246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 - MORIS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839184"/>
            <a:ext cx="4550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VIVIENDA</a:t>
            </a:r>
          </a:p>
        </p:txBody>
      </p:sp>
      <p:graphicFrame>
        <p:nvGraphicFramePr>
          <p:cNvPr id="128" name="Tabla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874143"/>
              </p:ext>
            </p:extLst>
          </p:nvPr>
        </p:nvGraphicFramePr>
        <p:xfrm>
          <a:off x="1377720" y="2070554"/>
          <a:ext cx="8928000" cy="6800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88777984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37307187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368043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34555533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6040265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6021356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46294923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3693879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192921798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374700493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6422651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287231"/>
                    </a:ext>
                  </a:extLst>
                </a:gridCol>
              </a:tblGrid>
              <a:tr h="139899">
                <a:tc gridSpan="4">
                  <a:txBody>
                    <a:bodyPr/>
                    <a:lstStyle/>
                    <a:p>
                      <a:pPr algn="ctr"/>
                      <a:r>
                        <a:rPr lang="es-MX" sz="1100" b="1" dirty="0" smtClean="0">
                          <a:latin typeface="+mn-lt"/>
                          <a:cs typeface="+mn-cs"/>
                        </a:rPr>
                        <a:t>AGUA</a:t>
                      </a:r>
                      <a:r>
                        <a:rPr lang="es-MX" sz="1100" b="1" baseline="0" dirty="0" smtClean="0">
                          <a:latin typeface="+mn-lt"/>
                          <a:cs typeface="+mn-cs"/>
                        </a:rPr>
                        <a:t> DE USO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MX" sz="1100" b="1" dirty="0" smtClean="0">
                          <a:latin typeface="+mn-lt"/>
                          <a:cs typeface="Arial" panose="020B0604020202020204" pitchFamily="34" charset="0"/>
                        </a:rPr>
                        <a:t>AGUA</a:t>
                      </a:r>
                      <a:r>
                        <a:rPr lang="es-MX" sz="1100" b="1" baseline="0" dirty="0" smtClean="0">
                          <a:latin typeface="+mn-lt"/>
                          <a:cs typeface="Arial" panose="020B0604020202020204" pitchFamily="34" charset="0"/>
                        </a:rPr>
                        <a:t> DE CONSUMO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MX" sz="1100" b="1" dirty="0" smtClean="0">
                          <a:latin typeface="+mn-lt"/>
                          <a:cs typeface="Arial" panose="020B0604020202020204" pitchFamily="34" charset="0"/>
                        </a:rPr>
                        <a:t>EXCRETA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192338"/>
                  </a:ext>
                </a:extLst>
              </a:tr>
              <a:tr h="279797"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>
                          <a:latin typeface="+mn-lt"/>
                          <a:cs typeface="+mn-cs"/>
                        </a:rPr>
                        <a:t>Potable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>
                          <a:latin typeface="+mn-lt"/>
                          <a:cs typeface="+mn-cs"/>
                        </a:rPr>
                        <a:t>Noria/Pozo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Río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Lluvia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Potable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Purificada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>
                          <a:latin typeface="+mn-lt"/>
                          <a:cs typeface="+mn-cs"/>
                        </a:rPr>
                        <a:t>Hervida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>
                          <a:latin typeface="+mn-lt"/>
                          <a:cs typeface="Arial" panose="020B0604020202020204" pitchFamily="34" charset="0"/>
                        </a:rPr>
                        <a:t>Clorada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>
                          <a:latin typeface="+mn-lt"/>
                          <a:cs typeface="+mn-cs"/>
                        </a:rPr>
                        <a:t>Filtrada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Fosa séptica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Letrina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 smtClean="0"/>
                        <a:t>Al ras del suelo</a:t>
                      </a:r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89803969"/>
                  </a:ext>
                </a:extLst>
              </a:tr>
              <a:tr h="147847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48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142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7939855"/>
                  </a:ext>
                </a:extLst>
              </a:tr>
            </a:tbl>
          </a:graphicData>
        </a:graphic>
      </p:graphicFrame>
      <p:graphicFrame>
        <p:nvGraphicFramePr>
          <p:cNvPr id="8" name="3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0511905"/>
              </p:ext>
            </p:extLst>
          </p:nvPr>
        </p:nvGraphicFramePr>
        <p:xfrm>
          <a:off x="333556" y="2850522"/>
          <a:ext cx="7246337" cy="36551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79189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315964"/>
            <a:ext cx="6704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 - MORIS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839184"/>
            <a:ext cx="4550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VIVIENDA</a:t>
            </a:r>
          </a:p>
        </p:txBody>
      </p:sp>
      <p:graphicFrame>
        <p:nvGraphicFramePr>
          <p:cNvPr id="128" name="Tabla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113186"/>
              </p:ext>
            </p:extLst>
          </p:nvPr>
        </p:nvGraphicFramePr>
        <p:xfrm>
          <a:off x="696000" y="1928313"/>
          <a:ext cx="10800000" cy="6525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8877798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7307187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9368043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3455553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6040265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60213561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4629492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19292179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74700493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6422651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632872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640714537"/>
                    </a:ext>
                  </a:extLst>
                </a:gridCol>
              </a:tblGrid>
              <a:tr h="176102">
                <a:tc gridSpan="4">
                  <a:txBody>
                    <a:bodyPr/>
                    <a:lstStyle/>
                    <a:p>
                      <a:pPr algn="ctr"/>
                      <a:r>
                        <a:rPr lang="es-MX" sz="1100" b="1" dirty="0" smtClean="0">
                          <a:latin typeface="+mn-lt"/>
                          <a:cs typeface="+mn-cs"/>
                        </a:rPr>
                        <a:t>COMBUSTIBLE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MX" sz="1100" b="1" dirty="0" smtClean="0">
                          <a:latin typeface="+mn-lt"/>
                          <a:cs typeface="Arial" panose="020B0604020202020204" pitchFamily="34" charset="0"/>
                        </a:rPr>
                        <a:t>BASURA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MX" sz="1100" b="1" dirty="0" smtClean="0">
                          <a:latin typeface="+mn-lt"/>
                          <a:cs typeface="Arial" panose="020B0604020202020204" pitchFamily="34" charset="0"/>
                        </a:rPr>
                        <a:t>ALUMBRADO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192338"/>
                  </a:ext>
                </a:extLst>
              </a:tr>
              <a:tr h="299294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Carbón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Leña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Otros</a:t>
                      </a:r>
                    </a:p>
                  </a:txBody>
                  <a:tcPr marL="9525" marR="9525" marT="9525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 </a:t>
                      </a:r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municipal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Enterramiento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Cielo </a:t>
                      </a:r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abierto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Incineración</a:t>
                      </a:r>
                    </a:p>
                  </a:txBody>
                  <a:tcPr marL="9525" marR="9525" marT="9525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 </a:t>
                      </a:r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eléctrica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Velas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Quinque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Placa </a:t>
                      </a:r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solar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9803969"/>
                  </a:ext>
                </a:extLst>
              </a:tr>
              <a:tr h="176102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63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180</a:t>
                      </a:r>
                    </a:p>
                  </a:txBody>
                  <a:tcPr marL="9525" marR="9525" marT="9525" marB="0" anchor="b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171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7939855"/>
                  </a:ext>
                </a:extLst>
              </a:tr>
            </a:tbl>
          </a:graphicData>
        </a:graphic>
      </p:graphicFrame>
      <p:graphicFrame>
        <p:nvGraphicFramePr>
          <p:cNvPr id="8" name="3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1429451"/>
              </p:ext>
            </p:extLst>
          </p:nvPr>
        </p:nvGraphicFramePr>
        <p:xfrm>
          <a:off x="333556" y="2863626"/>
          <a:ext cx="7246337" cy="3642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02884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315964"/>
            <a:ext cx="7077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 - MORIS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839184"/>
            <a:ext cx="4550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VIVIENDA</a:t>
            </a:r>
          </a:p>
        </p:txBody>
      </p:sp>
      <p:graphicFrame>
        <p:nvGraphicFramePr>
          <p:cNvPr id="128" name="Tabla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291160"/>
              </p:ext>
            </p:extLst>
          </p:nvPr>
        </p:nvGraphicFramePr>
        <p:xfrm>
          <a:off x="3072000" y="1950653"/>
          <a:ext cx="6048000" cy="7664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8877798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1373071871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1993680439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52277993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4101228409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241720114"/>
                    </a:ext>
                  </a:extLst>
                </a:gridCol>
              </a:tblGrid>
              <a:tr h="176102">
                <a:tc gridSpan="6">
                  <a:txBody>
                    <a:bodyPr/>
                    <a:lstStyle/>
                    <a:p>
                      <a:pPr algn="ctr"/>
                      <a:r>
                        <a:rPr lang="es-MX" sz="1100" b="1" dirty="0" smtClean="0">
                          <a:latin typeface="+mn-lt"/>
                          <a:cs typeface="+mn-cs"/>
                        </a:rPr>
                        <a:t>DISTRIBUCIÓN</a:t>
                      </a:r>
                      <a:r>
                        <a:rPr lang="es-MX" sz="1100" b="1" baseline="0" dirty="0" smtClean="0">
                          <a:latin typeface="+mn-lt"/>
                          <a:cs typeface="+mn-cs"/>
                        </a:rPr>
                        <a:t> HABITACIONAL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192338"/>
                  </a:ext>
                </a:extLst>
              </a:tr>
              <a:tr h="413154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Número </a:t>
                      </a: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 </a:t>
                      </a:r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habitaciones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Recámara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Estancia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Comedor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Múltiple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Cocina </a:t>
                      </a:r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independiente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9803969"/>
                  </a:ext>
                </a:extLst>
              </a:tr>
              <a:tr h="166254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939855"/>
                  </a:ext>
                </a:extLst>
              </a:tr>
            </a:tbl>
          </a:graphicData>
        </a:graphic>
      </p:graphicFrame>
      <p:graphicFrame>
        <p:nvGraphicFramePr>
          <p:cNvPr id="8" name="3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5297934"/>
              </p:ext>
            </p:extLst>
          </p:nvPr>
        </p:nvGraphicFramePr>
        <p:xfrm>
          <a:off x="333556" y="2837624"/>
          <a:ext cx="7077896" cy="3668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9632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315964"/>
            <a:ext cx="7077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 - MORIS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839184"/>
            <a:ext cx="4550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ETNIA</a:t>
            </a:r>
          </a:p>
        </p:txBody>
      </p:sp>
      <p:graphicFrame>
        <p:nvGraphicFramePr>
          <p:cNvPr id="128" name="Tabla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001740"/>
              </p:ext>
            </p:extLst>
          </p:nvPr>
        </p:nvGraphicFramePr>
        <p:xfrm>
          <a:off x="3504000" y="1928313"/>
          <a:ext cx="5184000" cy="4764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88777984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37307187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993680439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52277993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4101228409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241720114"/>
                    </a:ext>
                  </a:extLst>
                </a:gridCol>
              </a:tblGrid>
              <a:tr h="299294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Tarahumara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Tepehúan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Wuarojío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Pima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Menonita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Otro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803969"/>
                  </a:ext>
                </a:extLst>
              </a:tr>
              <a:tr h="176102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939855"/>
                  </a:ext>
                </a:extLst>
              </a:tr>
            </a:tbl>
          </a:graphicData>
        </a:graphic>
      </p:graphicFrame>
      <p:graphicFrame>
        <p:nvGraphicFramePr>
          <p:cNvPr id="8" name="3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6073987"/>
              </p:ext>
            </p:extLst>
          </p:nvPr>
        </p:nvGraphicFramePr>
        <p:xfrm>
          <a:off x="333557" y="2837624"/>
          <a:ext cx="7077896" cy="3689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6388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6" y="315964"/>
            <a:ext cx="7077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 - MORIS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839184"/>
            <a:ext cx="4550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DERECHOHABIENCIA</a:t>
            </a:r>
          </a:p>
        </p:txBody>
      </p:sp>
      <p:graphicFrame>
        <p:nvGraphicFramePr>
          <p:cNvPr id="128" name="Tabla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286445"/>
              </p:ext>
            </p:extLst>
          </p:nvPr>
        </p:nvGraphicFramePr>
        <p:xfrm>
          <a:off x="3504000" y="1986285"/>
          <a:ext cx="5184000" cy="4764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88777984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37307187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993680439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52277993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4101228409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241720114"/>
                    </a:ext>
                  </a:extLst>
                </a:gridCol>
              </a:tblGrid>
              <a:tr h="299294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INSABI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IMSS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ISSSTE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PEMEX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SEDENA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Otro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803969"/>
                  </a:ext>
                </a:extLst>
              </a:tr>
              <a:tr h="176102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939855"/>
                  </a:ext>
                </a:extLst>
              </a:tr>
            </a:tbl>
          </a:graphicData>
        </a:graphic>
      </p:graphicFrame>
      <p:graphicFrame>
        <p:nvGraphicFramePr>
          <p:cNvPr id="8" name="3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4192544"/>
              </p:ext>
            </p:extLst>
          </p:nvPr>
        </p:nvGraphicFramePr>
        <p:xfrm>
          <a:off x="399501" y="2825469"/>
          <a:ext cx="7011950" cy="37229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0046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315964"/>
            <a:ext cx="7077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 -MORIS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839184"/>
            <a:ext cx="4550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MASCOTAS</a:t>
            </a:r>
          </a:p>
        </p:txBody>
      </p:sp>
      <p:graphicFrame>
        <p:nvGraphicFramePr>
          <p:cNvPr id="128" name="Tabla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503819"/>
              </p:ext>
            </p:extLst>
          </p:nvPr>
        </p:nvGraphicFramePr>
        <p:xfrm>
          <a:off x="4800000" y="1922357"/>
          <a:ext cx="2592000" cy="4764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88777984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37307187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993680439"/>
                    </a:ext>
                  </a:extLst>
                </a:gridCol>
              </a:tblGrid>
              <a:tr h="299294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</a:t>
                      </a:r>
                      <a:r>
                        <a:rPr lang="es-MX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Perros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 Gatos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 Otros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803969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939855"/>
                  </a:ext>
                </a:extLst>
              </a:tr>
            </a:tbl>
          </a:graphicData>
        </a:graphic>
      </p:graphicFrame>
      <p:graphicFrame>
        <p:nvGraphicFramePr>
          <p:cNvPr id="8" name="3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5373704"/>
              </p:ext>
            </p:extLst>
          </p:nvPr>
        </p:nvGraphicFramePr>
        <p:xfrm>
          <a:off x="399501" y="2816026"/>
          <a:ext cx="7011950" cy="37323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1950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315964"/>
            <a:ext cx="6632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 - MORIS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839184"/>
            <a:ext cx="4550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USO DE SERVICIO MÉDICO</a:t>
            </a:r>
          </a:p>
        </p:txBody>
      </p:sp>
      <p:graphicFrame>
        <p:nvGraphicFramePr>
          <p:cNvPr id="128" name="Tabla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28320"/>
              </p:ext>
            </p:extLst>
          </p:nvPr>
        </p:nvGraphicFramePr>
        <p:xfrm>
          <a:off x="948000" y="1943024"/>
          <a:ext cx="10296000" cy="6980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288777984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37307187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99368043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174785573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49601599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345555333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860402654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192921798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74700493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964226514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6328723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98479512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888204203"/>
                    </a:ext>
                  </a:extLst>
                </a:gridCol>
              </a:tblGrid>
              <a:tr h="176102">
                <a:tc gridSpan="6">
                  <a:txBody>
                    <a:bodyPr/>
                    <a:lstStyle/>
                    <a:p>
                      <a:pPr algn="ctr"/>
                      <a:r>
                        <a:rPr lang="es-MX" sz="1100" b="1" dirty="0" smtClean="0"/>
                        <a:t>OFICIALES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MX" sz="1100" b="1" dirty="0" smtClean="0"/>
                        <a:t>PRIVADO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MX" sz="1100" b="1" dirty="0" smtClean="0"/>
                        <a:t>TRADICIONALES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192338"/>
                  </a:ext>
                </a:extLst>
              </a:tr>
              <a:tr h="299294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INSABI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IMSS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ISSSTE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PEMEX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SEDENA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Otro</a:t>
                      </a:r>
                    </a:p>
                  </a:txBody>
                  <a:tcPr marL="9525" marR="9525" marT="9525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Médico </a:t>
                      </a:r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particular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Clínica </a:t>
                      </a:r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particular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Partera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Curandero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Yerbero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Huesero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Boticario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9803969"/>
                  </a:ext>
                </a:extLst>
              </a:tr>
              <a:tr h="176102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</a:t>
                      </a:r>
                    </a:p>
                  </a:txBody>
                  <a:tcPr marL="9525" marR="9525" marT="9525" marB="0" anchor="b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7939855"/>
                  </a:ext>
                </a:extLst>
              </a:tr>
            </a:tbl>
          </a:graphicData>
        </a:graphic>
      </p:graphicFrame>
      <p:graphicFrame>
        <p:nvGraphicFramePr>
          <p:cNvPr id="8" name="3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4204484"/>
              </p:ext>
            </p:extLst>
          </p:nvPr>
        </p:nvGraphicFramePr>
        <p:xfrm>
          <a:off x="399501" y="2815280"/>
          <a:ext cx="7011950" cy="3733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0164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839184"/>
            <a:ext cx="4550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FAMILIA</a:t>
            </a:r>
          </a:p>
        </p:txBody>
      </p:sp>
      <p:graphicFrame>
        <p:nvGraphicFramePr>
          <p:cNvPr id="128" name="Tabla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786997"/>
              </p:ext>
            </p:extLst>
          </p:nvPr>
        </p:nvGraphicFramePr>
        <p:xfrm>
          <a:off x="1634400" y="1928313"/>
          <a:ext cx="8923200" cy="6525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6400">
                  <a:extLst>
                    <a:ext uri="{9D8B030D-6E8A-4147-A177-3AD203B41FA5}">
                      <a16:colId xmlns:a16="http://schemas.microsoft.com/office/drawing/2014/main" val="4019709085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546285898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88777984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1373071871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1993680439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174785573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1496015996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3345555333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860402654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3192921798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3747004932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964226514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63287231"/>
                    </a:ext>
                  </a:extLst>
                </a:gridCol>
              </a:tblGrid>
              <a:tr h="176102">
                <a:tc gridSpan="2">
                  <a:txBody>
                    <a:bodyPr/>
                    <a:lstStyle/>
                    <a:p>
                      <a:pPr algn="ctr"/>
                      <a:r>
                        <a:rPr lang="es-MX" sz="1100" b="1" dirty="0" smtClean="0">
                          <a:latin typeface="+mn-lt"/>
                          <a:cs typeface="Arial" panose="020B0604020202020204" pitchFamily="34" charset="0"/>
                        </a:rPr>
                        <a:t>SEXO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s-MX" sz="1100" b="1" dirty="0" smtClean="0">
                          <a:latin typeface="+mn-lt"/>
                          <a:cs typeface="+mn-cs"/>
                        </a:rPr>
                        <a:t>ESTADO</a:t>
                      </a:r>
                      <a:r>
                        <a:rPr lang="es-MX" sz="1100" b="1" baseline="0" dirty="0" smtClean="0">
                          <a:latin typeface="+mn-lt"/>
                          <a:cs typeface="+mn-cs"/>
                        </a:rPr>
                        <a:t> CIVIL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MX" sz="1100" b="1" dirty="0" smtClean="0">
                          <a:latin typeface="+mn-lt"/>
                          <a:cs typeface="Arial" panose="020B0604020202020204" pitchFamily="34" charset="0"/>
                        </a:rPr>
                        <a:t>PARENTESCO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192338"/>
                  </a:ext>
                </a:extLst>
              </a:tr>
              <a:tr h="299294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Mujer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Hombre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Casado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Soltero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Unión Libre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Divorciado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Viudo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Separado</a:t>
                      </a:r>
                    </a:p>
                  </a:txBody>
                  <a:tcPr marL="9525" marR="9525" marT="9525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Padre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Madre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Hijo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Pariente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Otro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9803969"/>
                  </a:ext>
                </a:extLst>
              </a:tr>
              <a:tr h="176102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</a:t>
                      </a:r>
                    </a:p>
                  </a:txBody>
                  <a:tcPr marL="9525" marR="9525" marT="9525" marB="0" anchor="b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7939855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315964"/>
            <a:ext cx="6632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 - MORIS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11" name="3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3457744"/>
              </p:ext>
            </p:extLst>
          </p:nvPr>
        </p:nvGraphicFramePr>
        <p:xfrm>
          <a:off x="399501" y="2815280"/>
          <a:ext cx="7011950" cy="3733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4798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839184"/>
            <a:ext cx="4550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EDAD</a:t>
            </a:r>
          </a:p>
        </p:txBody>
      </p:sp>
      <p:graphicFrame>
        <p:nvGraphicFramePr>
          <p:cNvPr id="128" name="Tabla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063803"/>
              </p:ext>
            </p:extLst>
          </p:nvPr>
        </p:nvGraphicFramePr>
        <p:xfrm>
          <a:off x="3216000" y="1928313"/>
          <a:ext cx="5760000" cy="8307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401970908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4628589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14391653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14254958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18506394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0536856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9664336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31434224"/>
                    </a:ext>
                  </a:extLst>
                </a:gridCol>
              </a:tblGrid>
              <a:tr h="176102"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s-MX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EDAD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192338"/>
                  </a:ext>
                </a:extLst>
              </a:tr>
              <a:tr h="176102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Menor de 5 años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 5 a 9 años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solidFill>
                      <a:srgbClr val="00B0F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 10 a 17 años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solidFill>
                      <a:srgbClr val="00B0F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 18 años en adelante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664815"/>
                  </a:ext>
                </a:extLst>
              </a:tr>
              <a:tr h="299294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Hombre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Mujer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Hombre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Mujer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Hombre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Mujer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Hombre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Mujer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9803969"/>
                  </a:ext>
                </a:extLst>
              </a:tr>
              <a:tr h="176102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7939855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315964"/>
            <a:ext cx="6632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 - MORIS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12" name="3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8115662"/>
              </p:ext>
            </p:extLst>
          </p:nvPr>
        </p:nvGraphicFramePr>
        <p:xfrm>
          <a:off x="399501" y="2815280"/>
          <a:ext cx="7011950" cy="3733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74233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839184"/>
            <a:ext cx="4550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ESCOLARIDAD</a:t>
            </a:r>
          </a:p>
        </p:txBody>
      </p:sp>
      <p:graphicFrame>
        <p:nvGraphicFramePr>
          <p:cNvPr id="128" name="Tabla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255195"/>
              </p:ext>
            </p:extLst>
          </p:nvPr>
        </p:nvGraphicFramePr>
        <p:xfrm>
          <a:off x="2136000" y="1928313"/>
          <a:ext cx="7920000" cy="6980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4019709085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546285898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88777984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37307187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99368043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174785573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49601599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345555333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860402654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192921798"/>
                    </a:ext>
                  </a:extLst>
                </a:gridCol>
              </a:tblGrid>
              <a:tr h="176102">
                <a:tc gridSpan="10">
                  <a:txBody>
                    <a:bodyPr/>
                    <a:lstStyle/>
                    <a:p>
                      <a:pPr algn="ctr"/>
                      <a:r>
                        <a:rPr lang="es-MX" sz="1100" b="1" dirty="0" smtClean="0">
                          <a:latin typeface="+mn-lt"/>
                          <a:cs typeface="Arial" panose="020B0604020202020204" pitchFamily="34" charset="0"/>
                        </a:rPr>
                        <a:t>ESCOLARIDAD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192338"/>
                  </a:ext>
                </a:extLst>
              </a:tr>
              <a:tr h="299294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Preescolar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Primaria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Secundaria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Preparatoria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Técnico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Profesional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Posgrado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asiste a la escuela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Sabe leer y escribir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Analfabeta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9803969"/>
                  </a:ext>
                </a:extLst>
              </a:tr>
              <a:tr h="176102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7939855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315964"/>
            <a:ext cx="6632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 - MORIS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12" name="3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0812127"/>
              </p:ext>
            </p:extLst>
          </p:nvPr>
        </p:nvGraphicFramePr>
        <p:xfrm>
          <a:off x="399501" y="2815280"/>
          <a:ext cx="7011950" cy="3733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7859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839184"/>
            <a:ext cx="4550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OCUPACIÓN E INGRESO</a:t>
            </a:r>
          </a:p>
        </p:txBody>
      </p:sp>
      <p:graphicFrame>
        <p:nvGraphicFramePr>
          <p:cNvPr id="128" name="Tabla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130328"/>
              </p:ext>
            </p:extLst>
          </p:nvPr>
        </p:nvGraphicFramePr>
        <p:xfrm>
          <a:off x="2496000" y="1933233"/>
          <a:ext cx="7200000" cy="6980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401970908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54628589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8877798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7307187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9368043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7478557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49601599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345555333"/>
                    </a:ext>
                  </a:extLst>
                </a:gridCol>
              </a:tblGrid>
              <a:tr h="176102">
                <a:tc gridSpan="5">
                  <a:txBody>
                    <a:bodyPr/>
                    <a:lstStyle/>
                    <a:p>
                      <a:pPr algn="ctr"/>
                      <a:r>
                        <a:rPr lang="es-MX" sz="1100" b="1" dirty="0" smtClean="0">
                          <a:latin typeface="+mn-lt"/>
                          <a:cs typeface="Arial" panose="020B0604020202020204" pitchFamily="34" charset="0"/>
                        </a:rPr>
                        <a:t>OCUPACIÓN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MX" sz="1100" b="1" dirty="0" smtClean="0">
                          <a:latin typeface="+mn-lt"/>
                          <a:cs typeface="Arial" panose="020B0604020202020204" pitchFamily="34" charset="0"/>
                        </a:rPr>
                        <a:t>INGRESO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192338"/>
                  </a:ext>
                </a:extLst>
              </a:tr>
              <a:tr h="299294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Hogar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Estudiante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Empleado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Desempleado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 cuenta propia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Menor al salario mínimo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Igual al </a:t>
                      </a:r>
                    </a:p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salario mínimo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Mayor al salario mínimo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9803969"/>
                  </a:ext>
                </a:extLst>
              </a:tr>
              <a:tr h="176102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939855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315964"/>
            <a:ext cx="6632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 - MORIS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12" name="3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8902572"/>
              </p:ext>
            </p:extLst>
          </p:nvPr>
        </p:nvGraphicFramePr>
        <p:xfrm>
          <a:off x="399501" y="2815280"/>
          <a:ext cx="7011950" cy="3733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51070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839184"/>
            <a:ext cx="4550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DETECCIONES Y PADECIMIENTOS</a:t>
            </a:r>
          </a:p>
        </p:txBody>
      </p:sp>
      <p:graphicFrame>
        <p:nvGraphicFramePr>
          <p:cNvPr id="128" name="Tabla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840181"/>
              </p:ext>
            </p:extLst>
          </p:nvPr>
        </p:nvGraphicFramePr>
        <p:xfrm>
          <a:off x="2946000" y="1928313"/>
          <a:ext cx="6300000" cy="6525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401970908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54628589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8877798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7307187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9368043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7478557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496015996"/>
                    </a:ext>
                  </a:extLst>
                </a:gridCol>
              </a:tblGrid>
              <a:tr h="176102">
                <a:tc gridSpan="7">
                  <a:txBody>
                    <a:bodyPr/>
                    <a:lstStyle/>
                    <a:p>
                      <a:pPr algn="ctr"/>
                      <a:r>
                        <a:rPr lang="es-MX" sz="1100" b="1" dirty="0" smtClean="0">
                          <a:latin typeface="+mn-lt"/>
                          <a:cs typeface="Arial" panose="020B0604020202020204" pitchFamily="34" charset="0"/>
                        </a:rPr>
                        <a:t>DETECCIONES</a:t>
                      </a:r>
                      <a:r>
                        <a:rPr lang="es-MX" sz="1100" b="1" baseline="0" dirty="0" smtClean="0">
                          <a:latin typeface="+mn-lt"/>
                          <a:cs typeface="Arial" panose="020B0604020202020204" pitchFamily="34" charset="0"/>
                        </a:rPr>
                        <a:t> Y PADECIMIENTOS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192338"/>
                  </a:ext>
                </a:extLst>
              </a:tr>
              <a:tr h="299294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Papanicolaou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Hipertensión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Diabetes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Tuberculosis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Alcoholismo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Tabaquismo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Cáncer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9803969"/>
                  </a:ext>
                </a:extLst>
              </a:tr>
              <a:tr h="176102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939855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315964"/>
            <a:ext cx="6632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 - MORIS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12" name="3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390247"/>
              </p:ext>
            </p:extLst>
          </p:nvPr>
        </p:nvGraphicFramePr>
        <p:xfrm>
          <a:off x="399501" y="2815280"/>
          <a:ext cx="7011950" cy="3733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05143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839184"/>
            <a:ext cx="4550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PLANIFICACIÓN FAMILIAR</a:t>
            </a:r>
          </a:p>
        </p:txBody>
      </p:sp>
      <p:graphicFrame>
        <p:nvGraphicFramePr>
          <p:cNvPr id="128" name="Tabla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977527"/>
              </p:ext>
            </p:extLst>
          </p:nvPr>
        </p:nvGraphicFramePr>
        <p:xfrm>
          <a:off x="2046000" y="1928313"/>
          <a:ext cx="8100000" cy="6980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401970908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54628589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8877798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7307187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9368043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7478557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49601599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01563952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210250045"/>
                    </a:ext>
                  </a:extLst>
                </a:gridCol>
              </a:tblGrid>
              <a:tr h="176102">
                <a:tc gridSpan="9">
                  <a:txBody>
                    <a:bodyPr/>
                    <a:lstStyle/>
                    <a:p>
                      <a:pPr algn="ctr"/>
                      <a:r>
                        <a:rPr lang="es-MX" sz="1100" b="1" dirty="0" smtClean="0">
                          <a:latin typeface="+mn-lt"/>
                          <a:cs typeface="Arial" panose="020B0604020202020204" pitchFamily="34" charset="0"/>
                        </a:rPr>
                        <a:t>PLANIFICACIÓN</a:t>
                      </a:r>
                      <a:r>
                        <a:rPr lang="es-MX" sz="1100" b="1" baseline="0" dirty="0" smtClean="0">
                          <a:latin typeface="+mn-lt"/>
                          <a:cs typeface="Arial" panose="020B0604020202020204" pitchFamily="34" charset="0"/>
                        </a:rPr>
                        <a:t> FAMILIAR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192338"/>
                  </a:ext>
                </a:extLst>
              </a:tr>
              <a:tr h="299294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DIU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Preservativos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Inyección Mensual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Inyección Bimensual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Salpingo / OTB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Implantes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Embarazada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Embarazada en 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9803969"/>
                  </a:ext>
                </a:extLst>
              </a:tr>
              <a:tr h="176102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939855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315964"/>
            <a:ext cx="6632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 - MORIS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12" name="3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2526269"/>
              </p:ext>
            </p:extLst>
          </p:nvPr>
        </p:nvGraphicFramePr>
        <p:xfrm>
          <a:off x="399501" y="2815280"/>
          <a:ext cx="7011950" cy="3733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94186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839184"/>
            <a:ext cx="4550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HIGIENE Y TOXICOMANÍAS</a:t>
            </a:r>
          </a:p>
        </p:txBody>
      </p:sp>
      <p:graphicFrame>
        <p:nvGraphicFramePr>
          <p:cNvPr id="128" name="Tabla 127"/>
          <p:cNvGraphicFramePr>
            <a:graphicFrameLocks noGrp="1"/>
          </p:cNvGraphicFramePr>
          <p:nvPr>
            <p:extLst/>
          </p:nvPr>
        </p:nvGraphicFramePr>
        <p:xfrm>
          <a:off x="1938000" y="1928313"/>
          <a:ext cx="8316000" cy="6980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8000">
                  <a:extLst>
                    <a:ext uri="{9D8B030D-6E8A-4147-A177-3AD203B41FA5}">
                      <a16:colId xmlns:a16="http://schemas.microsoft.com/office/drawing/2014/main" val="401970908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546285898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8877798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37307187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993680439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174785573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496015996"/>
                    </a:ext>
                  </a:extLst>
                </a:gridCol>
              </a:tblGrid>
              <a:tr h="176102">
                <a:tc gridSpan="3">
                  <a:txBody>
                    <a:bodyPr/>
                    <a:lstStyle/>
                    <a:p>
                      <a:pPr algn="ctr"/>
                      <a:r>
                        <a:rPr lang="es-MX" sz="1100" b="1" dirty="0" smtClean="0">
                          <a:latin typeface="+mn-lt"/>
                          <a:cs typeface="Arial" panose="020B0604020202020204" pitchFamily="34" charset="0"/>
                        </a:rPr>
                        <a:t>HIGIENE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MX" sz="1100" b="1" dirty="0" smtClean="0">
                          <a:latin typeface="+mn-lt"/>
                          <a:cs typeface="Arial" panose="020B0604020202020204" pitchFamily="34" charset="0"/>
                        </a:rPr>
                        <a:t>TOXICOMANÍAS</a:t>
                      </a:r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1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192338"/>
                  </a:ext>
                </a:extLst>
              </a:tr>
              <a:tr h="299294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Baño y </a:t>
                      </a:r>
                      <a:endParaRPr lang="es-MX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r>
                        <a:rPr lang="es-MX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cambio </a:t>
                      </a: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 ropa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Lavado de dientes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Limpieza de vivienda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Consumo de bebidas alcohólicas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Tabaco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Medicamentos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Drogas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9803969"/>
                  </a:ext>
                </a:extLst>
              </a:tr>
              <a:tr h="176102"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939855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315964"/>
            <a:ext cx="6632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 - MORIS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12" name="3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1963239"/>
              </p:ext>
            </p:extLst>
          </p:nvPr>
        </p:nvGraphicFramePr>
        <p:xfrm>
          <a:off x="399501" y="2815280"/>
          <a:ext cx="7011950" cy="3733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8144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1772</TotalTime>
  <Words>511</Words>
  <Application>Microsoft Office PowerPoint</Application>
  <PresentationFormat>Panorámica</PresentationFormat>
  <Paragraphs>337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Avenir Roman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Cinthia Martínez Mendoza</cp:lastModifiedBy>
  <cp:revision>143</cp:revision>
  <cp:lastPrinted>2022-09-23T14:32:46Z</cp:lastPrinted>
  <dcterms:created xsi:type="dcterms:W3CDTF">2021-09-08T23:32:09Z</dcterms:created>
  <dcterms:modified xsi:type="dcterms:W3CDTF">2023-03-28T19:16:45Z</dcterms:modified>
</cp:coreProperties>
</file>