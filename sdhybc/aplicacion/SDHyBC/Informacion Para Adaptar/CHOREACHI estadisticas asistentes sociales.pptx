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72" r:id="rId3"/>
    <p:sldId id="285" r:id="rId4"/>
    <p:sldId id="271" r:id="rId5"/>
    <p:sldId id="280" r:id="rId6"/>
    <p:sldId id="270" r:id="rId7"/>
    <p:sldId id="276" r:id="rId8"/>
    <p:sldId id="283" r:id="rId9"/>
    <p:sldId id="282" r:id="rId10"/>
    <p:sldId id="284" r:id="rId11"/>
  </p:sldIdLst>
  <p:sldSz cx="9144000" cy="6858000" type="screen4x3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2" autoAdjust="0"/>
    <p:restoredTop sz="94316" autoAdjust="0"/>
  </p:normalViewPr>
  <p:slideViewPr>
    <p:cSldViewPr>
      <p:cViewPr varScale="1">
        <p:scale>
          <a:sx n="86" d="100"/>
          <a:sy n="86" d="100"/>
        </p:scale>
        <p:origin x="160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4B471F1-9D30-485A-9750-EE47CFE269D4}" type="datetimeFigureOut">
              <a:rPr lang="es-MX" smtClean="0"/>
              <a:t>31/03/2023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B89ADC7-0065-4447-93E9-BEA1FD198A0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613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630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5cfb2aa57d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5cfb2aa57d_0_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bg>
      <p:bgPr>
        <a:solidFill>
          <a:srgbClr val="F3F3F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2565600"/>
            <a:ext cx="1995000" cy="4292400"/>
          </a:xfrm>
          <a:prstGeom prst="rect">
            <a:avLst/>
          </a:prstGeom>
          <a:solidFill>
            <a:srgbClr val="CC6425">
              <a:alpha val="60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8176675" y="2777600"/>
            <a:ext cx="967200" cy="1302800"/>
          </a:xfrm>
          <a:prstGeom prst="rect">
            <a:avLst/>
          </a:prstGeom>
          <a:solidFill>
            <a:srgbClr val="A7B1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0000" y="2240800"/>
            <a:ext cx="3381000" cy="23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021900" y="2951000"/>
            <a:ext cx="2402100" cy="9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Barlow Semi Condensed Light"/>
              <a:buNone/>
              <a:defRPr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Semi Condensed Light"/>
              <a:buNone/>
              <a:defRPr sz="2800">
                <a:solidFill>
                  <a:srgbClr val="FFFFFF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30384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Sue Ellen Francisco"/>
              <a:buNone/>
              <a:defRPr sz="4800">
                <a:solidFill>
                  <a:srgbClr val="434343"/>
                </a:solidFill>
                <a:latin typeface="Sue Ellen Francisco"/>
                <a:ea typeface="Sue Ellen Francisco"/>
                <a:cs typeface="Sue Ellen Francisco"/>
                <a:sym typeface="Sue Ellen Francisc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Knewave"/>
              <a:buNone/>
              <a:defRPr sz="4800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●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Light"/>
              <a:buChar char="○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Barlow Semi Condensed Light"/>
              <a:buChar char="■"/>
              <a:defRPr sz="1200">
                <a:solidFill>
                  <a:srgbClr val="434343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69516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0" y="-357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s-ES_tradnl" sz="7200" kern="0" dirty="0" smtClean="0">
                <a:solidFill>
                  <a:schemeClr val="tx1"/>
                </a:solidFill>
                <a:sym typeface="Arial"/>
              </a:rPr>
              <a:t>           </a:t>
            </a:r>
          </a:p>
          <a:p>
            <a:pPr algn="ctr">
              <a:buClr>
                <a:srgbClr val="000000"/>
              </a:buClr>
            </a:pPr>
            <a:r>
              <a:rPr lang="es-ES_tradnl" sz="7200" kern="0" dirty="0" smtClean="0">
                <a:solidFill>
                  <a:schemeClr val="tx1"/>
                </a:solidFill>
                <a:sym typeface="Arial"/>
              </a:rPr>
              <a:t>           </a:t>
            </a:r>
          </a:p>
          <a:p>
            <a:pPr algn="ctr">
              <a:buClr>
                <a:srgbClr val="000000"/>
              </a:buClr>
            </a:pPr>
            <a:r>
              <a:rPr lang="es-ES_tradnl" sz="7200" kern="0" dirty="0">
                <a:solidFill>
                  <a:schemeClr val="tx1"/>
                </a:solidFill>
                <a:sym typeface="Arial"/>
              </a:rPr>
              <a:t> </a:t>
            </a:r>
            <a:r>
              <a:rPr lang="es-ES_tradnl" sz="7200" kern="0" dirty="0" smtClean="0">
                <a:solidFill>
                  <a:schemeClr val="tx1"/>
                </a:solidFill>
                <a:sym typeface="Arial"/>
              </a:rPr>
              <a:t>            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s-ES_tradnl" sz="7200" kern="0" dirty="0" smtClean="0">
                <a:solidFill>
                  <a:schemeClr val="tx1"/>
                </a:solidFill>
                <a:sym typeface="Arial"/>
              </a:rPr>
              <a:t>  </a:t>
            </a:r>
            <a:endParaRPr lang="es-ES_tradnl" sz="7200" kern="0" dirty="0">
              <a:solidFill>
                <a:schemeClr val="tx1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38728" y="78630"/>
            <a:ext cx="9139837" cy="6701037"/>
            <a:chOff x="146041" y="101602"/>
            <a:chExt cx="9139837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146041" y="4640825"/>
              <a:ext cx="9139837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46041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450702" y="127646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pic>
        <p:nvPicPr>
          <p:cNvPr id="9" name="Imagen 8"/>
          <p:cNvPicPr/>
          <p:nvPr/>
        </p:nvPicPr>
        <p:blipFill rotWithShape="1">
          <a:blip r:embed="rId4"/>
          <a:srcRect l="25758" t="20274" r="39538" b="9497"/>
          <a:stretch/>
        </p:blipFill>
        <p:spPr bwMode="auto">
          <a:xfrm>
            <a:off x="251520" y="1140829"/>
            <a:ext cx="3752850" cy="42697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4013726" y="1983038"/>
            <a:ext cx="481065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CHOREACHI, GUADALUPE Y CALVO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6092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38728" y="78630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s-ES_tradnl" sz="2400" kern="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  <a:sym typeface="Arial"/>
              </a:rPr>
              <a:t>Número de localidades y viviendas encuestadas</a:t>
            </a:r>
            <a:endParaRPr lang="es-ES_tradnl" sz="3600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s-ES_tradnl" sz="3200" kern="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  <a:sym typeface="Arial"/>
              </a:rPr>
              <a:t>38</a:t>
            </a:r>
            <a:r>
              <a:rPr lang="es-ES_tradnl" sz="3200" kern="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  <a:sym typeface="Arial"/>
              </a:rPr>
              <a:t> </a:t>
            </a:r>
            <a:r>
              <a:rPr lang="es-ES_tradnl" sz="2800" kern="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  <a:sym typeface="Arial"/>
              </a:rPr>
              <a:t>COMUNIDADES</a:t>
            </a:r>
            <a:endParaRPr lang="es-ES_tradnl" sz="28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lvl="0" algn="ctr">
              <a:buClr>
                <a:srgbClr val="000000"/>
              </a:buClr>
            </a:pPr>
            <a:r>
              <a:rPr lang="es-ES_tradnl" sz="3200" kern="0" dirty="0" smtClean="0">
                <a:solidFill>
                  <a:srgbClr val="000000"/>
                </a:solidFill>
                <a:latin typeface="Aharoni" pitchFamily="2" charset="-79"/>
                <a:cs typeface="Aharoni" pitchFamily="2" charset="-79"/>
                <a:sym typeface="Arial"/>
              </a:rPr>
              <a:t>396</a:t>
            </a:r>
            <a:r>
              <a:rPr lang="es-ES_tradnl" sz="2800" kern="0" dirty="0" smtClean="0">
                <a:solidFill>
                  <a:srgbClr val="000000"/>
                </a:solidFill>
                <a:latin typeface="Aharoni" pitchFamily="2" charset="-79"/>
                <a:cs typeface="Aharoni" pitchFamily="2" charset="-79"/>
                <a:sym typeface="Arial"/>
              </a:rPr>
              <a:t> </a:t>
            </a:r>
            <a:r>
              <a:rPr lang="es-ES_tradnl" sz="2800" kern="0" dirty="0" smtClean="0">
                <a:solidFill>
                  <a:srgbClr val="000000"/>
                </a:solidFill>
                <a:latin typeface="Aharoni" pitchFamily="2" charset="-79"/>
                <a:cs typeface="Aharoni" pitchFamily="2" charset="-79"/>
                <a:sym typeface="Arial"/>
              </a:rPr>
              <a:t>VIVIENDAS</a:t>
            </a:r>
          </a:p>
          <a:p>
            <a:pPr lvl="0" algn="ctr">
              <a:buClr>
                <a:srgbClr val="000000"/>
              </a:buClr>
            </a:pPr>
            <a:endParaRPr lang="es-ES_tradnl" sz="2800" kern="0" dirty="0" smtClean="0">
              <a:solidFill>
                <a:srgbClr val="000000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lvl="0" algn="ctr">
              <a:buClr>
                <a:srgbClr val="000000"/>
              </a:buClr>
            </a:pPr>
            <a:r>
              <a:rPr lang="es-ES_tradnl" sz="2800" kern="0" dirty="0" smtClean="0">
                <a:solidFill>
                  <a:srgbClr val="000000"/>
                </a:solidFill>
                <a:latin typeface="Aharoni" pitchFamily="2" charset="-79"/>
                <a:cs typeface="Aharoni" pitchFamily="2" charset="-79"/>
                <a:sym typeface="Arial"/>
              </a:rPr>
              <a:t>Población habitante </a:t>
            </a:r>
            <a:r>
              <a:rPr lang="es-ES_tradnl" sz="3600" kern="0" dirty="0" smtClean="0">
                <a:solidFill>
                  <a:srgbClr val="000000"/>
                </a:solidFill>
                <a:latin typeface="Aharoni" pitchFamily="2" charset="-79"/>
                <a:cs typeface="Aharoni" pitchFamily="2" charset="-79"/>
                <a:sym typeface="Arial"/>
              </a:rPr>
              <a:t>1474</a:t>
            </a:r>
            <a:endParaRPr lang="es-ES_tradnl" sz="3600" kern="0" dirty="0">
              <a:solidFill>
                <a:srgbClr val="000000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20550" cy="6701037"/>
            <a:chOff x="67275" y="101602"/>
            <a:chExt cx="9220550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42809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58170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2496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38728" y="78630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20550" cy="6701037"/>
            <a:chOff x="67275" y="101602"/>
            <a:chExt cx="9220550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42809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58170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12" name="Rectángulo 11"/>
          <p:cNvSpPr/>
          <p:nvPr/>
        </p:nvSpPr>
        <p:spPr>
          <a:xfrm>
            <a:off x="35496" y="725623"/>
            <a:ext cx="9108504" cy="59400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LECHUGUILLA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SOLEDAD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TEJAMANIL DEL ABAJO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JOYA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CABEZA DE BORREGO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NARANJO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COCONO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MEZA MAURICIO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BARRO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RANCHITO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CONOCIDO CABEZA DE OSO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ARROYO DE MULATOS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MEZA DE MULATOS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LAJA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AGUA AMARILLA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PEÑASCO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PIEDRA BOLA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MESA DE SAPAREACHI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TERRERO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CERRO PELON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ROJOSARARE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MEZA DE RAYABO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MESA DEL DURAZNO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SITANACHI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PALMILLAS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ARROYO GUAZACHIQUE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GUAZACHIQUE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CUMBRES DURAZNO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AROLLO DEL CANDIL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ARROYO DEL MANZANO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ARROYO DE LA RATA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BASIGOCHI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BATABACHI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BATAYEACHI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BUENAVISTA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CASOACHI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CHICARARE</a:t>
            </a:r>
          </a:p>
          <a:p>
            <a:pPr algn="ctr"/>
            <a:r>
              <a:rPr lang="es-ES" sz="1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CHIMORARE</a:t>
            </a:r>
            <a:endParaRPr lang="es-E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-40038" y="366273"/>
            <a:ext cx="9218603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COMUNIDADES CENSADAS</a:t>
            </a:r>
            <a:endParaRPr lang="es-E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1409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3" y="0"/>
            <a:ext cx="9215077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 dirty="0">
              <a:solidFill>
                <a:schemeClr val="tx1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10" y="5805264"/>
            <a:ext cx="3085227" cy="64505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18603" cy="6701037"/>
            <a:chOff x="67275" y="101602"/>
            <a:chExt cx="9218603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214817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07305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355" y="550229"/>
            <a:ext cx="6542087" cy="528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177" y="1100286"/>
            <a:ext cx="4160823" cy="227799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76" y="3460034"/>
            <a:ext cx="4160823" cy="22392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16" y="3458430"/>
            <a:ext cx="4108450" cy="224080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6017" y="1100285"/>
            <a:ext cx="4108450" cy="225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96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2" y="78630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5661248"/>
            <a:ext cx="2869203" cy="934717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25727" cy="6701037"/>
            <a:chOff x="67275" y="101602"/>
            <a:chExt cx="9225727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63147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63347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377789"/>
            <a:ext cx="1368152" cy="662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736" y="938396"/>
            <a:ext cx="4160325" cy="231058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6346" y="949739"/>
            <a:ext cx="4111376" cy="226925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786" y="3295908"/>
            <a:ext cx="4175276" cy="229333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1259" y="3314866"/>
            <a:ext cx="4136463" cy="226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61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2" y="99392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589240"/>
            <a:ext cx="3085227" cy="861076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108520" y="93089"/>
            <a:ext cx="9238167" cy="6804182"/>
            <a:chOff x="-1207" y="101602"/>
            <a:chExt cx="9238167" cy="477137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-1207" y="471315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31954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07305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9" y="2964883"/>
            <a:ext cx="4379968" cy="277329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954" y="2971284"/>
            <a:ext cx="4343767" cy="275359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7704" y="134759"/>
            <a:ext cx="4464496" cy="283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961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2" y="99392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18603" cy="6701037"/>
            <a:chOff x="67275" y="101602"/>
            <a:chExt cx="9218603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70801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563876" y="108506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965" y="620688"/>
            <a:ext cx="6224587" cy="672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250" y="1127156"/>
            <a:ext cx="4170025" cy="292633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037" y="4052626"/>
            <a:ext cx="3329052" cy="22566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015" y="4064407"/>
            <a:ext cx="3155193" cy="224174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4064406"/>
            <a:ext cx="2698819" cy="224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1887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0" y="78630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25727" cy="6701037"/>
            <a:chOff x="67275" y="101602"/>
            <a:chExt cx="9225727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63147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63347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74767"/>
            <a:ext cx="3600400" cy="230616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09" y="474891"/>
            <a:ext cx="3663562" cy="227660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91" y="2877906"/>
            <a:ext cx="3631065" cy="253945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009" y="2877906"/>
            <a:ext cx="3663562" cy="256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61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2" y="78630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25727" cy="6701037"/>
            <a:chOff x="67275" y="101602"/>
            <a:chExt cx="9225727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63147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663347" y="101602"/>
              <a:ext cx="4629655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614098"/>
            <a:ext cx="4248472" cy="215329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76" y="614098"/>
            <a:ext cx="4170025" cy="21532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744" y="2868833"/>
            <a:ext cx="4464228" cy="247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61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301F069-CDB2-8F43-8778-BA5980FDA979}"/>
              </a:ext>
            </a:extLst>
          </p:cNvPr>
          <p:cNvSpPr/>
          <p:nvPr/>
        </p:nvSpPr>
        <p:spPr>
          <a:xfrm>
            <a:off x="-36512" y="44624"/>
            <a:ext cx="9144000" cy="6858000"/>
          </a:xfrm>
          <a:prstGeom prst="rect">
            <a:avLst/>
          </a:prstGeom>
          <a:solidFill>
            <a:srgbClr val="F3F3F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r>
              <a:rPr lang="es-ES_tradnl" sz="2400" kern="0" dirty="0" smtClean="0">
                <a:solidFill>
                  <a:schemeClr val="tx1"/>
                </a:solidFill>
                <a:latin typeface="Aharoni" pitchFamily="2" charset="-79"/>
                <a:cs typeface="Aharoni" pitchFamily="2" charset="-79"/>
                <a:sym typeface="Arial"/>
              </a:rPr>
              <a:t>PROPUESTAS DE INTERVENCIÓN</a:t>
            </a: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24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para actividades productivas (el 52% de su población es económicamente activa, un 84% con ingresos menores al mínimo)       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para ampliación de vivienda (21 viviendas con una sola habit</a:t>
            </a:r>
            <a:r>
              <a:rPr lang="es-ES_tradnl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ación)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Reforzamiento de la educación (el nivel educativo predominante es la primaria (56%, secundaria solo el 15%)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para el suministro y calidad de agua (225 viviendas adquieren el agua de noria o pozo)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para el energía eléctrica (30 viviendas no cuentan con este servicio)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de servicio médico (atención de padecimientos hipertensión y diabetes)</a:t>
            </a: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r>
              <a:rPr lang="es-ES_tradnl" sz="1600" kern="0" dirty="0" smtClean="0">
                <a:solidFill>
                  <a:schemeClr val="tx1"/>
                </a:solidFill>
                <a:latin typeface="Barlow Semi Condensed Light"/>
                <a:cs typeface="Aharoni" pitchFamily="2" charset="-79"/>
                <a:sym typeface="Arial"/>
              </a:rPr>
              <a:t>Apoyo para la construcción de fosas sépticas y letrinas (46 manifiestan que la disposición de excretas es al ras del suelo.</a:t>
            </a:r>
            <a:endParaRPr lang="es-ES_tradnl" kern="0" dirty="0" smtClean="0">
              <a:solidFill>
                <a:schemeClr val="tx1"/>
              </a:solidFill>
              <a:latin typeface="Barlow Semi Condensed Light"/>
              <a:cs typeface="Aharoni" pitchFamily="2" charset="-79"/>
              <a:sym typeface="Arial"/>
            </a:endParaRP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endParaRPr lang="es-ES_tradnl" kern="0" dirty="0" smtClean="0">
              <a:solidFill>
                <a:schemeClr val="tx1"/>
              </a:solidFill>
              <a:latin typeface="Barlow Semi Condensed Light"/>
              <a:cs typeface="Aharoni" pitchFamily="2" charset="-79"/>
              <a:sym typeface="Arial"/>
            </a:endParaRPr>
          </a:p>
          <a:p>
            <a:pPr marL="285750" indent="-285750" algn="just">
              <a:buClr>
                <a:srgbClr val="000000"/>
              </a:buClr>
              <a:buFontTx/>
              <a:buChar char="-"/>
            </a:pPr>
            <a:endParaRPr lang="es-ES_tradnl" kern="0" dirty="0" smtClean="0">
              <a:solidFill>
                <a:schemeClr val="tx1"/>
              </a:solidFill>
              <a:latin typeface="Barlow Semi Condensed Light"/>
              <a:cs typeface="Aharoni" pitchFamily="2" charset="-79"/>
              <a:sym typeface="Arial"/>
            </a:endParaRPr>
          </a:p>
          <a:p>
            <a:pPr algn="just">
              <a:buClr>
                <a:srgbClr val="000000"/>
              </a:buClr>
              <a:buFont typeface="Arial"/>
              <a:buNone/>
            </a:pPr>
            <a:endParaRPr lang="es-ES_tradnl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32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3200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3200" kern="0" dirty="0" smtClean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3200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 dirty="0">
              <a:solidFill>
                <a:schemeClr val="tx1"/>
              </a:solidFill>
              <a:latin typeface="Aharoni" pitchFamily="2" charset="-79"/>
              <a:cs typeface="Aharoni" pitchFamily="2" charset="-79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2B789BC-756F-D44D-B2F7-F45DC5EF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5445224"/>
            <a:ext cx="3085227" cy="1005092"/>
          </a:xfrm>
          <a:prstGeom prst="rect">
            <a:avLst/>
          </a:prstGeom>
        </p:spPr>
      </p:pic>
      <p:grpSp>
        <p:nvGrpSpPr>
          <p:cNvPr id="29" name="Grupo 28">
            <a:extLst>
              <a:ext uri="{FF2B5EF4-FFF2-40B4-BE49-F238E27FC236}">
                <a16:creationId xmlns:a16="http://schemas.microsoft.com/office/drawing/2014/main" id="{ECC73D41-BD7B-FC48-941F-6EE8B9027F9F}"/>
              </a:ext>
            </a:extLst>
          </p:cNvPr>
          <p:cNvGrpSpPr/>
          <p:nvPr/>
        </p:nvGrpSpPr>
        <p:grpSpPr>
          <a:xfrm>
            <a:off x="-40038" y="78630"/>
            <a:ext cx="9218603" cy="6701037"/>
            <a:chOff x="67275" y="101602"/>
            <a:chExt cx="9218603" cy="4699044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1E87075-E625-CB4F-ABC5-E2EA10C6EF14}"/>
                </a:ext>
              </a:extLst>
            </p:cNvPr>
            <p:cNvSpPr/>
            <p:nvPr/>
          </p:nvSpPr>
          <p:spPr>
            <a:xfrm>
              <a:off x="67275" y="4640825"/>
              <a:ext cx="9218603" cy="159821"/>
            </a:xfrm>
            <a:prstGeom prst="rect">
              <a:avLst/>
            </a:prstGeom>
            <a:solidFill>
              <a:srgbClr val="005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5231B674-28EC-C047-8090-31C40155A7CE}"/>
                </a:ext>
              </a:extLst>
            </p:cNvPr>
            <p:cNvSpPr/>
            <p:nvPr/>
          </p:nvSpPr>
          <p:spPr>
            <a:xfrm>
              <a:off x="151715" y="101602"/>
              <a:ext cx="5267439" cy="209783"/>
            </a:xfrm>
            <a:prstGeom prst="rect">
              <a:avLst/>
            </a:prstGeom>
            <a:solidFill>
              <a:srgbClr val="E500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1" name="Trapecio 30">
              <a:extLst>
                <a:ext uri="{FF2B5EF4-FFF2-40B4-BE49-F238E27FC236}">
                  <a16:creationId xmlns:a16="http://schemas.microsoft.com/office/drawing/2014/main" id="{41596086-A2BC-A74C-AB1F-1FBB4E31CFEE}"/>
                </a:ext>
              </a:extLst>
            </p:cNvPr>
            <p:cNvSpPr/>
            <p:nvPr/>
          </p:nvSpPr>
          <p:spPr>
            <a:xfrm>
              <a:off x="4750514" y="101602"/>
              <a:ext cx="4500800" cy="209783"/>
            </a:xfrm>
            <a:prstGeom prst="trapezoid">
              <a:avLst/>
            </a:prstGeom>
            <a:solidFill>
              <a:srgbClr val="712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endParaRPr lang="es-MX" sz="1400" kern="0">
                <a:solidFill>
                  <a:srgbClr val="FFFFFF"/>
                </a:solidFill>
                <a:sym typeface="Arial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4CB0C7E4-747A-1746-89C6-F7EABB54E280}"/>
              </a:ext>
            </a:extLst>
          </p:cNvPr>
          <p:cNvSpPr/>
          <p:nvPr/>
        </p:nvSpPr>
        <p:spPr>
          <a:xfrm>
            <a:off x="3933645" y="4302307"/>
            <a:ext cx="3202650" cy="1142917"/>
          </a:xfrm>
          <a:prstGeom prst="rect">
            <a:avLst/>
          </a:prstGeom>
          <a:solidFill>
            <a:srgbClr val="F3F3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es-ES_tradnl" sz="1400" kern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58958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rming Company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228</Words>
  <Application>Microsoft Office PowerPoint</Application>
  <PresentationFormat>Presentación en pantalla (4:3)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Aharoni</vt:lpstr>
      <vt:lpstr>Arial</vt:lpstr>
      <vt:lpstr>Barlow Semi Condensed Light</vt:lpstr>
      <vt:lpstr>Calibri</vt:lpstr>
      <vt:lpstr>Knewave</vt:lpstr>
      <vt:lpstr>Sue Ellen Francisco</vt:lpstr>
      <vt:lpstr>Farming Company by Slidesgo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karla Guadalupe Alonso Garcia</dc:creator>
  <cp:lastModifiedBy>Jesús Alejandro Álvarez Martínez</cp:lastModifiedBy>
  <cp:revision>81</cp:revision>
  <cp:lastPrinted>2023-03-31T18:06:24Z</cp:lastPrinted>
  <dcterms:created xsi:type="dcterms:W3CDTF">2022-01-21T15:33:20Z</dcterms:created>
  <dcterms:modified xsi:type="dcterms:W3CDTF">2023-03-31T18:13:37Z</dcterms:modified>
</cp:coreProperties>
</file>